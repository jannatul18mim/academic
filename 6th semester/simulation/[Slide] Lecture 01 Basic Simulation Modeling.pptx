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265" r:id="rId3"/>
    <p:sldId id="266" r:id="rId4"/>
    <p:sldId id="267" r:id="rId5"/>
    <p:sldId id="268" r:id="rId6"/>
    <p:sldId id="260" r:id="rId7"/>
    <p:sldId id="269" r:id="rId8"/>
    <p:sldId id="270" r:id="rId9"/>
    <p:sldId id="261" r:id="rId10"/>
    <p:sldId id="271" r:id="rId11"/>
    <p:sldId id="274" r:id="rId12"/>
    <p:sldId id="272" r:id="rId13"/>
    <p:sldId id="273" r:id="rId14"/>
    <p:sldId id="275" r:id="rId15"/>
    <p:sldId id="278" r:id="rId16"/>
    <p:sldId id="276" r:id="rId17"/>
    <p:sldId id="277" r:id="rId18"/>
    <p:sldId id="262" r:id="rId19"/>
    <p:sldId id="263"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06T05:00:38.16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1087,'74'40,"-1"3,95 75,115 121,-94-76,96 85,118 95,-152-171,-248-170,-1-1,1 1,0-1,-1 1,1-1,0 0,0 0,-1 0,6 0,-6-1,0 0,0-1,0 1,1-1,-1 1,0-1,0 0,-1 0,1 0,0 0,0 0,0-1,-1 1,4-3,45-43,65-78,-21 21,33-22,191-144,168-80,-8-17,-18-29,-266 227,321-273,-470 400,-31 30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2/6/2026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426" y="152769"/>
            <a:ext cx="8911687" cy="1280890"/>
          </a:xfrm>
        </p:spPr>
        <p:txBody>
          <a:bodyPr/>
          <a:lstStyle/>
          <a:p>
            <a:r>
              <a:rPr lang="en-US" dirty="0"/>
              <a:t>Basic Simulation Modeling</a:t>
            </a:r>
          </a:p>
        </p:txBody>
      </p:sp>
      <p:sp>
        <p:nvSpPr>
          <p:cNvPr id="3" name="Content Placeholder 2"/>
          <p:cNvSpPr>
            <a:spLocks noGrp="1"/>
          </p:cNvSpPr>
          <p:nvPr>
            <p:ph idx="1"/>
          </p:nvPr>
        </p:nvSpPr>
        <p:spPr>
          <a:xfrm>
            <a:off x="1225485" y="1224391"/>
            <a:ext cx="10482606" cy="5633609"/>
          </a:xfrm>
        </p:spPr>
        <p:txBody>
          <a:bodyPr/>
          <a:lstStyle/>
          <a:p>
            <a:pPr marL="0" indent="0">
              <a:buNone/>
            </a:pPr>
            <a:r>
              <a:rPr lang="en-US" dirty="0"/>
              <a:t> </a:t>
            </a:r>
          </a:p>
          <a:p>
            <a:pPr algn="l"/>
            <a:r>
              <a:rPr lang="en-US" dirty="0"/>
              <a:t>Book 01:  </a:t>
            </a:r>
            <a:r>
              <a:rPr lang="en-US" sz="1800" b="1" i="0" u="none" strike="noStrike" baseline="0" dirty="0">
                <a:latin typeface="CenturyOldStyleStd-Bold"/>
              </a:rPr>
              <a:t>Simulation Modeling and Analysis </a:t>
            </a:r>
            <a:br>
              <a:rPr lang="en-US" sz="1800" b="1" i="0" u="none" strike="noStrike" baseline="0" dirty="0">
                <a:latin typeface="CenturyOldStyleStd-Bold"/>
              </a:rPr>
            </a:br>
            <a:r>
              <a:rPr lang="en-US" sz="1800" b="1" i="0" u="none" strike="noStrike" baseline="0" dirty="0">
                <a:latin typeface="CenturyOldStyleStd-Bold"/>
              </a:rPr>
              <a:t>                                                                  </a:t>
            </a:r>
            <a:r>
              <a:rPr lang="en-US" sz="1800" b="1" i="0" u="none" strike="noStrike" baseline="0" dirty="0">
                <a:latin typeface="TimesLTStd-Bold"/>
              </a:rPr>
              <a:t>Averill M. Law</a:t>
            </a:r>
            <a:br>
              <a:rPr lang="en-US" sz="1800" b="1" i="0" u="none" strike="noStrike" baseline="0" dirty="0">
                <a:latin typeface="TimesLTStd-Bold"/>
              </a:rPr>
            </a:br>
            <a:r>
              <a:rPr lang="en-US" sz="1800" b="1" i="0" u="none" strike="noStrike" baseline="0" dirty="0">
                <a:latin typeface="TimesLTStd-Bold"/>
              </a:rPr>
              <a:t>                                                             W. David Kelton </a:t>
            </a:r>
          </a:p>
        </p:txBody>
      </p:sp>
      <p:pic>
        <p:nvPicPr>
          <p:cNvPr id="5" name="Picture 4">
            <a:extLst>
              <a:ext uri="{FF2B5EF4-FFF2-40B4-BE49-F238E27FC236}">
                <a16:creationId xmlns:a16="http://schemas.microsoft.com/office/drawing/2014/main" id="{39E5CB82-DBB4-160D-6ED3-7F371751B145}"/>
              </a:ext>
            </a:extLst>
          </p:cNvPr>
          <p:cNvPicPr>
            <a:picLocks noChangeAspect="1"/>
          </p:cNvPicPr>
          <p:nvPr/>
        </p:nvPicPr>
        <p:blipFill>
          <a:blip r:embed="rId2"/>
          <a:stretch>
            <a:fillRect/>
          </a:stretch>
        </p:blipFill>
        <p:spPr>
          <a:xfrm>
            <a:off x="2302399" y="2884603"/>
            <a:ext cx="6690772" cy="3007150"/>
          </a:xfrm>
          <a:prstGeom prst="rect">
            <a:avLst/>
          </a:prstGeom>
        </p:spPr>
      </p:pic>
    </p:spTree>
    <p:extLst>
      <p:ext uri="{BB962C8B-B14F-4D97-AF65-F5344CB8AC3E}">
        <p14:creationId xmlns:p14="http://schemas.microsoft.com/office/powerpoint/2010/main" val="8897103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426" y="152769"/>
            <a:ext cx="8911687" cy="780485"/>
          </a:xfrm>
        </p:spPr>
        <p:txBody>
          <a:bodyPr/>
          <a:lstStyle/>
          <a:p>
            <a:r>
              <a:rPr lang="en-US" dirty="0"/>
              <a:t>The Nature of Simulation</a:t>
            </a:r>
          </a:p>
        </p:txBody>
      </p:sp>
      <p:sp>
        <p:nvSpPr>
          <p:cNvPr id="3" name="Content Placeholder 2"/>
          <p:cNvSpPr>
            <a:spLocks noGrp="1"/>
          </p:cNvSpPr>
          <p:nvPr>
            <p:ph idx="1"/>
          </p:nvPr>
        </p:nvSpPr>
        <p:spPr>
          <a:xfrm>
            <a:off x="1225485" y="1224392"/>
            <a:ext cx="10482606" cy="5402652"/>
          </a:xfrm>
        </p:spPr>
        <p:txBody>
          <a:bodyPr>
            <a:normAutofit lnSpcReduction="10000"/>
          </a:bodyPr>
          <a:lstStyle/>
          <a:p>
            <a:r>
              <a:rPr lang="en-US" dirty="0">
                <a:solidFill>
                  <a:schemeClr val="tx1"/>
                </a:solidFill>
              </a:rPr>
              <a:t>We focus the t</a:t>
            </a:r>
            <a:r>
              <a:rPr lang="en-US" dirty="0"/>
              <a:t>echniques for using computers to imitate, or simulate, the operations of various kinds of real-world facilities or processes.</a:t>
            </a:r>
          </a:p>
          <a:p>
            <a:pPr marL="0" indent="0">
              <a:buNone/>
            </a:pPr>
            <a:r>
              <a:rPr lang="en-US" dirty="0"/>
              <a:t> </a:t>
            </a:r>
          </a:p>
          <a:p>
            <a:r>
              <a:rPr lang="en-US" dirty="0"/>
              <a:t>The facility or process of interest is usually called a system, and in order to study it scientifically we often have to make a set of assumptions about how it works.</a:t>
            </a:r>
          </a:p>
          <a:p>
            <a:pPr marL="0" indent="0">
              <a:buNone/>
            </a:pPr>
            <a:r>
              <a:rPr lang="en-US" dirty="0"/>
              <a:t> </a:t>
            </a:r>
          </a:p>
          <a:p>
            <a:r>
              <a:rPr lang="en-US" dirty="0"/>
              <a:t>These assumptions, which usually take the form of mathematical or logical relationships, constitute a model that is used to try to gain some understanding of how the corresponding system behaves.</a:t>
            </a:r>
          </a:p>
          <a:p>
            <a:pPr marL="0" indent="0">
              <a:buNone/>
            </a:pPr>
            <a:r>
              <a:rPr lang="en-US" dirty="0"/>
              <a:t> </a:t>
            </a:r>
          </a:p>
          <a:p>
            <a:r>
              <a:rPr lang="en-US" b="1" dirty="0">
                <a:solidFill>
                  <a:srgbClr val="FF0000"/>
                </a:solidFill>
              </a:rPr>
              <a:t>Analytic solution: </a:t>
            </a:r>
            <a:r>
              <a:rPr lang="en-US" dirty="0"/>
              <a:t>If the relationships that compose the model are simple enough, it may be possible to use mathematical methods (such as algebra, calculus, or probability theory) to obtain exact information on questions of interest; this is called an analytic solution.</a:t>
            </a:r>
          </a:p>
          <a:p>
            <a:pPr marL="0" indent="0">
              <a:buNone/>
            </a:pPr>
            <a:endParaRPr lang="en-US" dirty="0"/>
          </a:p>
          <a:p>
            <a:r>
              <a:rPr lang="en-US" dirty="0"/>
              <a:t>However, most real-world systems are too complex to allow realistic models to be evaluated analytically, and these models must be studied by means of simulation.</a:t>
            </a:r>
          </a:p>
          <a:p>
            <a:endParaRPr lang="en-US" dirty="0"/>
          </a:p>
        </p:txBody>
      </p:sp>
    </p:spTree>
    <p:extLst>
      <p:ext uri="{BB962C8B-B14F-4D97-AF65-F5344CB8AC3E}">
        <p14:creationId xmlns:p14="http://schemas.microsoft.com/office/powerpoint/2010/main" val="21423628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426" y="152769"/>
            <a:ext cx="8911687" cy="780485"/>
          </a:xfrm>
        </p:spPr>
        <p:txBody>
          <a:bodyPr/>
          <a:lstStyle/>
          <a:p>
            <a:r>
              <a:rPr lang="en-US" dirty="0"/>
              <a:t>The Nature of Simulation</a:t>
            </a:r>
          </a:p>
        </p:txBody>
      </p:sp>
      <p:sp>
        <p:nvSpPr>
          <p:cNvPr id="3" name="Content Placeholder 2"/>
          <p:cNvSpPr>
            <a:spLocks noGrp="1"/>
          </p:cNvSpPr>
          <p:nvPr>
            <p:ph idx="1"/>
          </p:nvPr>
        </p:nvSpPr>
        <p:spPr>
          <a:xfrm>
            <a:off x="1225485" y="1224392"/>
            <a:ext cx="10482606" cy="4714495"/>
          </a:xfrm>
        </p:spPr>
        <p:txBody>
          <a:bodyPr>
            <a:normAutofit/>
          </a:bodyPr>
          <a:lstStyle/>
          <a:p>
            <a:endParaRPr lang="en-US" dirty="0"/>
          </a:p>
          <a:p>
            <a:r>
              <a:rPr lang="en-US" dirty="0"/>
              <a:t>In a simulation we use a computer to evaluate a model numerically, and data are gathered in order to estimate the desired true characteristics of the model.</a:t>
            </a:r>
          </a:p>
          <a:p>
            <a:pPr marL="0" indent="0">
              <a:buNone/>
            </a:pPr>
            <a:r>
              <a:rPr lang="en-US" dirty="0"/>
              <a:t>                                    </a:t>
            </a:r>
          </a:p>
          <a:p>
            <a:pPr marL="0" indent="0">
              <a:buNone/>
            </a:pPr>
            <a:r>
              <a:rPr lang="en-US" dirty="0"/>
              <a:t>                                           ……………….Example…………….</a:t>
            </a:r>
          </a:p>
          <a:p>
            <a:r>
              <a:rPr lang="en-US" dirty="0"/>
              <a:t>As an example of the use of simulation, consider a manufacturing company that is contemplating building a large extension on to one of its plants but is not sure if the potential gain in productivity would justify the construction cost. </a:t>
            </a:r>
          </a:p>
          <a:p>
            <a:r>
              <a:rPr lang="en-US" dirty="0"/>
              <a:t>It certainly would not be cost-effective to build the extension and then remove it later if it does not work out. </a:t>
            </a:r>
          </a:p>
          <a:p>
            <a:r>
              <a:rPr lang="en-US" dirty="0"/>
              <a:t>However, a careful simulation study could shed some light on the question by simulating the operation of the plant as it currently exists and as it would be if the plant were expanded.</a:t>
            </a:r>
          </a:p>
        </p:txBody>
      </p:sp>
    </p:spTree>
    <p:extLst>
      <p:ext uri="{BB962C8B-B14F-4D97-AF65-F5344CB8AC3E}">
        <p14:creationId xmlns:p14="http://schemas.microsoft.com/office/powerpoint/2010/main" val="117737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426" y="152769"/>
            <a:ext cx="8911687" cy="780485"/>
          </a:xfrm>
        </p:spPr>
        <p:txBody>
          <a:bodyPr/>
          <a:lstStyle/>
          <a:p>
            <a:r>
              <a:rPr lang="en-US" dirty="0"/>
              <a:t>The Nature of Simulation</a:t>
            </a:r>
          </a:p>
        </p:txBody>
      </p:sp>
      <p:sp>
        <p:nvSpPr>
          <p:cNvPr id="3" name="Content Placeholder 2"/>
          <p:cNvSpPr>
            <a:spLocks noGrp="1"/>
          </p:cNvSpPr>
          <p:nvPr>
            <p:ph idx="1"/>
          </p:nvPr>
        </p:nvSpPr>
        <p:spPr>
          <a:xfrm>
            <a:off x="1225485" y="1224392"/>
            <a:ext cx="10482606" cy="5480839"/>
          </a:xfrm>
        </p:spPr>
        <p:txBody>
          <a:bodyPr>
            <a:normAutofit lnSpcReduction="10000"/>
          </a:bodyPr>
          <a:lstStyle/>
          <a:p>
            <a:pPr marL="0" indent="0">
              <a:buNone/>
            </a:pPr>
            <a:r>
              <a:rPr lang="en-US" dirty="0">
                <a:highlight>
                  <a:srgbClr val="FFFF00"/>
                </a:highlight>
              </a:rPr>
              <a:t>Application</a:t>
            </a:r>
            <a:r>
              <a:rPr lang="en-US" dirty="0"/>
              <a:t> areas for simulation are numerous and diverse. Below is a list of some particular kinds of problems for which simulation has been found to be a useful and powerful tool:</a:t>
            </a:r>
          </a:p>
          <a:p>
            <a:pPr marL="0" indent="0">
              <a:buNone/>
            </a:pPr>
            <a:endParaRPr lang="en-US" dirty="0"/>
          </a:p>
          <a:p>
            <a:r>
              <a:rPr lang="en-US" dirty="0"/>
              <a:t>Designing and analyzing manufacturing systems </a:t>
            </a:r>
          </a:p>
          <a:p>
            <a:r>
              <a:rPr lang="en-US" dirty="0"/>
              <a:t>Evaluating military weapons systems or their logistics requirements </a:t>
            </a:r>
          </a:p>
          <a:p>
            <a:r>
              <a:rPr lang="en-US" dirty="0"/>
              <a:t>Determining hardware requirements or protocols for communications networks </a:t>
            </a:r>
          </a:p>
          <a:p>
            <a:r>
              <a:rPr lang="en-US" dirty="0"/>
              <a:t>Determining hardware and software requirements for a computer system </a:t>
            </a:r>
          </a:p>
          <a:p>
            <a:r>
              <a:rPr lang="en-US" dirty="0"/>
              <a:t>Designing and operating transportation systems such as airports, freeways, ports, and subways </a:t>
            </a:r>
          </a:p>
          <a:p>
            <a:r>
              <a:rPr lang="en-US" dirty="0"/>
              <a:t>Evaluating designs for service organizations such as call centers, fast-food restaurants, hospitals, and post offices</a:t>
            </a:r>
          </a:p>
          <a:p>
            <a:r>
              <a:rPr lang="en-US" dirty="0"/>
              <a:t>Reengineering of business processes</a:t>
            </a:r>
          </a:p>
          <a:p>
            <a:r>
              <a:rPr lang="en-US" dirty="0"/>
              <a:t>Analyzing supply chains</a:t>
            </a:r>
          </a:p>
          <a:p>
            <a:r>
              <a:rPr lang="en-US" dirty="0"/>
              <a:t>Determining ordering policies for an inventory system</a:t>
            </a:r>
          </a:p>
          <a:p>
            <a:r>
              <a:rPr lang="en-US" dirty="0"/>
              <a:t>Analyzing mining operations</a:t>
            </a:r>
          </a:p>
        </p:txBody>
      </p:sp>
    </p:spTree>
    <p:extLst>
      <p:ext uri="{BB962C8B-B14F-4D97-AF65-F5344CB8AC3E}">
        <p14:creationId xmlns:p14="http://schemas.microsoft.com/office/powerpoint/2010/main" val="1306802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426" y="152769"/>
            <a:ext cx="8911687" cy="780485"/>
          </a:xfrm>
        </p:spPr>
        <p:txBody>
          <a:bodyPr/>
          <a:lstStyle/>
          <a:p>
            <a:r>
              <a:rPr lang="en-US" dirty="0"/>
              <a:t>The Nature of Simulation</a:t>
            </a:r>
          </a:p>
        </p:txBody>
      </p:sp>
      <p:sp>
        <p:nvSpPr>
          <p:cNvPr id="3" name="Content Placeholder 2"/>
          <p:cNvSpPr>
            <a:spLocks noGrp="1"/>
          </p:cNvSpPr>
          <p:nvPr>
            <p:ph idx="1"/>
          </p:nvPr>
        </p:nvSpPr>
        <p:spPr>
          <a:xfrm>
            <a:off x="1225485" y="1224392"/>
            <a:ext cx="10482606" cy="5402652"/>
          </a:xfrm>
        </p:spPr>
        <p:txBody>
          <a:bodyPr>
            <a:normAutofit/>
          </a:bodyPr>
          <a:lstStyle/>
          <a:p>
            <a:r>
              <a:rPr lang="en-US" dirty="0"/>
              <a:t>There have been, however, several impediments, </a:t>
            </a:r>
            <a:r>
              <a:rPr lang="en-US" dirty="0">
                <a:highlight>
                  <a:srgbClr val="FFFF00"/>
                </a:highlight>
              </a:rPr>
              <a:t>problems</a:t>
            </a:r>
            <a:r>
              <a:rPr lang="en-US" dirty="0"/>
              <a:t>, to even wider acceptance and usefulness of simulation. </a:t>
            </a:r>
          </a:p>
          <a:p>
            <a:r>
              <a:rPr lang="en-US" dirty="0"/>
              <a:t>First, models used to study large-scale systems tend to be </a:t>
            </a:r>
            <a:r>
              <a:rPr lang="en-US" dirty="0">
                <a:highlight>
                  <a:srgbClr val="FFFF00"/>
                </a:highlight>
              </a:rPr>
              <a:t>very complex</a:t>
            </a:r>
            <a:r>
              <a:rPr lang="en-US" dirty="0"/>
              <a:t>, and writing computer programs to execute them can be an arduous, difficult, task indeed. </a:t>
            </a:r>
          </a:p>
          <a:p>
            <a:pPr marL="0" indent="0">
              <a:buNone/>
            </a:pPr>
            <a:r>
              <a:rPr lang="en-US" dirty="0"/>
              <a:t>      </a:t>
            </a:r>
            <a:r>
              <a:rPr lang="en-US" i="1" dirty="0">
                <a:solidFill>
                  <a:srgbClr val="0070C0"/>
                </a:solidFill>
              </a:rPr>
              <a:t>This task has been made much easier in recent years by the development of excellent software products that automatically provide many of the features needed to “program” a simulation model. </a:t>
            </a:r>
          </a:p>
          <a:p>
            <a:r>
              <a:rPr lang="en-US" dirty="0"/>
              <a:t>A second problem with simulation of complex systems is that </a:t>
            </a:r>
            <a:r>
              <a:rPr lang="en-US" dirty="0">
                <a:highlight>
                  <a:srgbClr val="FFFF00"/>
                </a:highlight>
              </a:rPr>
              <a:t>a large amount of computer time</a:t>
            </a:r>
            <a:r>
              <a:rPr lang="en-US" dirty="0"/>
              <a:t> is sometimes required. </a:t>
            </a:r>
          </a:p>
          <a:p>
            <a:pPr marL="0" indent="0">
              <a:buNone/>
            </a:pPr>
            <a:r>
              <a:rPr lang="en-US" dirty="0"/>
              <a:t>    </a:t>
            </a:r>
            <a:r>
              <a:rPr lang="en-US" b="1" i="1" dirty="0">
                <a:solidFill>
                  <a:srgbClr val="0070C0"/>
                </a:solidFill>
              </a:rPr>
              <a:t>However, this difficulty has become much less severe as computers become faster and cheaper. </a:t>
            </a:r>
          </a:p>
          <a:p>
            <a:r>
              <a:rPr lang="en-US" dirty="0"/>
              <a:t>Finally, there appears to be an </a:t>
            </a:r>
            <a:r>
              <a:rPr lang="en-US" dirty="0">
                <a:highlight>
                  <a:srgbClr val="FFFF00"/>
                </a:highlight>
              </a:rPr>
              <a:t>unfortunate impression </a:t>
            </a:r>
            <a:r>
              <a:rPr lang="en-US" dirty="0"/>
              <a:t>that simulation is just an exercise in computer programming, albeit a complicated one. </a:t>
            </a:r>
          </a:p>
          <a:p>
            <a:pPr marL="0" indent="0">
              <a:buNone/>
            </a:pPr>
            <a:r>
              <a:rPr lang="en-US" dirty="0"/>
              <a:t>    </a:t>
            </a:r>
            <a:r>
              <a:rPr lang="en-US" i="1" dirty="0">
                <a:solidFill>
                  <a:srgbClr val="0070C0"/>
                </a:solidFill>
              </a:rPr>
              <a:t>Consequently, many simulation “studies” have been composed of heuristic model building, programming, and a single run of the program to obtain “the answer.” </a:t>
            </a:r>
          </a:p>
          <a:p>
            <a:pPr marL="0" indent="0">
              <a:buNone/>
            </a:pPr>
            <a:r>
              <a:rPr lang="en-US" i="1" dirty="0">
                <a:solidFill>
                  <a:srgbClr val="0070C0"/>
                </a:solidFill>
              </a:rPr>
              <a:t>     Need design and analysis of simulation models, simulation methodology, carefully. </a:t>
            </a:r>
          </a:p>
        </p:txBody>
      </p:sp>
    </p:spTree>
    <p:extLst>
      <p:ext uri="{BB962C8B-B14F-4D97-AF65-F5344CB8AC3E}">
        <p14:creationId xmlns:p14="http://schemas.microsoft.com/office/powerpoint/2010/main" val="402419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4828" y="473280"/>
            <a:ext cx="8911687" cy="969021"/>
          </a:xfrm>
        </p:spPr>
        <p:txBody>
          <a:bodyPr>
            <a:normAutofit/>
          </a:bodyPr>
          <a:lstStyle/>
          <a:p>
            <a:r>
              <a:rPr lang="en-US" dirty="0"/>
              <a:t>Systems, Models, and Simulation </a:t>
            </a:r>
          </a:p>
        </p:txBody>
      </p:sp>
      <p:sp>
        <p:nvSpPr>
          <p:cNvPr id="3" name="Content Placeholder 2"/>
          <p:cNvSpPr>
            <a:spLocks noGrp="1"/>
          </p:cNvSpPr>
          <p:nvPr>
            <p:ph idx="1"/>
          </p:nvPr>
        </p:nvSpPr>
        <p:spPr>
          <a:xfrm>
            <a:off x="1225485" y="1224392"/>
            <a:ext cx="10482606" cy="5355518"/>
          </a:xfrm>
        </p:spPr>
        <p:txBody>
          <a:bodyPr>
            <a:normAutofit lnSpcReduction="10000"/>
          </a:bodyPr>
          <a:lstStyle/>
          <a:p>
            <a:pPr algn="just"/>
            <a:r>
              <a:rPr lang="en-US" dirty="0">
                <a:highlight>
                  <a:srgbClr val="FFFF00"/>
                </a:highlight>
              </a:rPr>
              <a:t>A system is defined to be a collection of entities</a:t>
            </a:r>
            <a:r>
              <a:rPr lang="en-US" dirty="0"/>
              <a:t>, e.g., people or machines, that act and interact together toward the accomplishment of some logical end. [This definition was proposed by Schmidt and Taylor (1970).] </a:t>
            </a:r>
          </a:p>
          <a:p>
            <a:pPr algn="just"/>
            <a:r>
              <a:rPr lang="en-US" dirty="0"/>
              <a:t>In practice, what is meant by “the system” depends on the objectives of a particular study. </a:t>
            </a:r>
          </a:p>
          <a:p>
            <a:pPr algn="just"/>
            <a:r>
              <a:rPr lang="en-US" dirty="0"/>
              <a:t>The collection of entities that comprise a system for one study might be only a subset of the overall system for another. </a:t>
            </a:r>
          </a:p>
          <a:p>
            <a:pPr algn="just"/>
            <a:r>
              <a:rPr lang="en-US" i="1" dirty="0"/>
              <a:t>For example, if one wants to study a bank to determine the number of tellers, cashiers, needed to provide adequate service for customers who want just to cash a check or make a savings deposit, the system can be defined to be that portion of the bank consisting of the tellers and the customers waiting in line or being served. </a:t>
            </a:r>
          </a:p>
          <a:p>
            <a:pPr algn="just"/>
            <a:r>
              <a:rPr lang="en-US" dirty="0"/>
              <a:t>If, on the other hand, the loan officer and the safe-deposit boxes are to be included, the definition of the system must be expanded in an obvious way.</a:t>
            </a:r>
          </a:p>
          <a:p>
            <a:pPr algn="just"/>
            <a:r>
              <a:rPr lang="en-US" dirty="0"/>
              <a:t>We define the state of a system to be that collection of variables necessary to describe a system at a particular time, relative to the objectives of a study. </a:t>
            </a:r>
          </a:p>
          <a:p>
            <a:pPr algn="just"/>
            <a:r>
              <a:rPr lang="en-US" dirty="0"/>
              <a:t>In a study of a bank, examples of possible state variables are the number of busy tellers, the number of customers in the bank, and the time of arrival of each customer in the bank. </a:t>
            </a:r>
          </a:p>
          <a:p>
            <a:endParaRPr lang="en-US" dirty="0"/>
          </a:p>
        </p:txBody>
      </p:sp>
    </p:spTree>
    <p:extLst>
      <p:ext uri="{BB962C8B-B14F-4D97-AF65-F5344CB8AC3E}">
        <p14:creationId xmlns:p14="http://schemas.microsoft.com/office/powerpoint/2010/main" val="4154888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4828" y="473280"/>
            <a:ext cx="8911687" cy="969021"/>
          </a:xfrm>
        </p:spPr>
        <p:txBody>
          <a:bodyPr>
            <a:normAutofit/>
          </a:bodyPr>
          <a:lstStyle/>
          <a:p>
            <a:r>
              <a:rPr lang="en-US" dirty="0"/>
              <a:t>Systems, Models, and Simulation </a:t>
            </a:r>
          </a:p>
        </p:txBody>
      </p:sp>
      <p:sp>
        <p:nvSpPr>
          <p:cNvPr id="3" name="Content Placeholder 2"/>
          <p:cNvSpPr>
            <a:spLocks noGrp="1"/>
          </p:cNvSpPr>
          <p:nvPr>
            <p:ph idx="1"/>
          </p:nvPr>
        </p:nvSpPr>
        <p:spPr>
          <a:xfrm>
            <a:off x="1225485" y="1224392"/>
            <a:ext cx="10482606" cy="5355518"/>
          </a:xfrm>
        </p:spPr>
        <p:txBody>
          <a:bodyPr>
            <a:normAutofit/>
          </a:bodyPr>
          <a:lstStyle/>
          <a:p>
            <a:pPr algn="just"/>
            <a:r>
              <a:rPr lang="en-US" dirty="0"/>
              <a:t>We categorize </a:t>
            </a:r>
            <a:r>
              <a:rPr lang="en-US" dirty="0">
                <a:highlight>
                  <a:srgbClr val="FFFF00"/>
                </a:highlight>
              </a:rPr>
              <a:t>systems to be of two types, discrete and continuous. </a:t>
            </a:r>
          </a:p>
          <a:p>
            <a:pPr algn="just"/>
            <a:r>
              <a:rPr lang="en-US" dirty="0"/>
              <a:t>A discrete system is one for which the state variables change instantaneously at separated points in time. </a:t>
            </a:r>
          </a:p>
          <a:p>
            <a:pPr marL="0" indent="0" algn="just">
              <a:buNone/>
            </a:pPr>
            <a:r>
              <a:rPr lang="en-US" dirty="0"/>
              <a:t>     </a:t>
            </a:r>
            <a:r>
              <a:rPr lang="en-US" i="1" dirty="0">
                <a:solidFill>
                  <a:srgbClr val="0070C0"/>
                </a:solidFill>
              </a:rPr>
              <a:t>A bank is an example of a discrete system, since state variables— e.g., the number of customers in the bank—change only when a customer arrives or when a customer finishes being served and departs. </a:t>
            </a:r>
          </a:p>
          <a:p>
            <a:pPr algn="just"/>
            <a:r>
              <a:rPr lang="en-US" dirty="0"/>
              <a:t>A continuous system is one for which the state variables change continuously with respect to time. </a:t>
            </a:r>
          </a:p>
          <a:p>
            <a:pPr marL="0" indent="0" algn="just">
              <a:buNone/>
            </a:pPr>
            <a:r>
              <a:rPr lang="en-US" dirty="0"/>
              <a:t>    </a:t>
            </a:r>
            <a:r>
              <a:rPr lang="en-US" i="1" dirty="0">
                <a:solidFill>
                  <a:srgbClr val="0070C0"/>
                </a:solidFill>
              </a:rPr>
              <a:t>An airplane moving through the air is an example of a continuous system, since state variables such as position and velocity can change continuously with respect to time. </a:t>
            </a:r>
          </a:p>
          <a:p>
            <a:pPr algn="just"/>
            <a:r>
              <a:rPr lang="en-US" dirty="0"/>
              <a:t>Few systems in practice are wholly discrete or wholly continuous; but since one type of change predominates for most systems, it will usually be possible to classify a system as being either discrete or continuous.</a:t>
            </a:r>
          </a:p>
        </p:txBody>
      </p:sp>
    </p:spTree>
    <p:extLst>
      <p:ext uri="{BB962C8B-B14F-4D97-AF65-F5344CB8AC3E}">
        <p14:creationId xmlns:p14="http://schemas.microsoft.com/office/powerpoint/2010/main" val="2270311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5146" y="12054"/>
            <a:ext cx="8911687" cy="690931"/>
          </a:xfrm>
        </p:spPr>
        <p:txBody>
          <a:bodyPr>
            <a:normAutofit/>
          </a:bodyPr>
          <a:lstStyle/>
          <a:p>
            <a:r>
              <a:rPr lang="en-US" dirty="0"/>
              <a:t>Systems, Models, and Simulation </a:t>
            </a:r>
          </a:p>
        </p:txBody>
      </p:sp>
      <p:sp>
        <p:nvSpPr>
          <p:cNvPr id="3" name="Content Placeholder 2"/>
          <p:cNvSpPr>
            <a:spLocks noGrp="1"/>
          </p:cNvSpPr>
          <p:nvPr>
            <p:ph idx="1"/>
          </p:nvPr>
        </p:nvSpPr>
        <p:spPr>
          <a:xfrm>
            <a:off x="1225485" y="702985"/>
            <a:ext cx="10482606" cy="5876925"/>
          </a:xfrm>
        </p:spPr>
        <p:txBody>
          <a:bodyPr>
            <a:normAutofit/>
          </a:bodyPr>
          <a:lstStyle/>
          <a:p>
            <a:pPr algn="just"/>
            <a:r>
              <a:rPr lang="en-US" dirty="0"/>
              <a:t>There is a need to study them to try to gain some insight into the relationships among various components, or to predict performance under some new conditions being considered. Figure 1.1 maps out different ways in which a system might be studied.</a:t>
            </a:r>
          </a:p>
          <a:p>
            <a:pPr marL="0" indent="0" algn="just">
              <a:buNone/>
            </a:pPr>
            <a:endParaRPr lang="en-US" dirty="0"/>
          </a:p>
        </p:txBody>
      </p:sp>
      <p:pic>
        <p:nvPicPr>
          <p:cNvPr id="5" name="Picture 4">
            <a:extLst>
              <a:ext uri="{FF2B5EF4-FFF2-40B4-BE49-F238E27FC236}">
                <a16:creationId xmlns:a16="http://schemas.microsoft.com/office/drawing/2014/main" id="{FAF330D3-BC22-D4BE-D47A-BA8627432BD0}"/>
              </a:ext>
            </a:extLst>
          </p:cNvPr>
          <p:cNvPicPr>
            <a:picLocks noChangeAspect="1"/>
          </p:cNvPicPr>
          <p:nvPr/>
        </p:nvPicPr>
        <p:blipFill>
          <a:blip r:embed="rId2"/>
          <a:stretch>
            <a:fillRect/>
          </a:stretch>
        </p:blipFill>
        <p:spPr>
          <a:xfrm>
            <a:off x="2886777" y="2007910"/>
            <a:ext cx="6908424" cy="4317475"/>
          </a:xfrm>
          <a:prstGeom prst="rect">
            <a:avLst/>
          </a:prstGeom>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7FED8C8C-C559-E025-DB8A-CF80A580D541}"/>
                  </a:ext>
                </a:extLst>
              </p14:cNvPr>
              <p14:cNvContentPartPr/>
              <p14:nvPr/>
            </p14:nvContentPartPr>
            <p14:xfrm>
              <a:off x="4310728" y="1857438"/>
              <a:ext cx="1687320" cy="888120"/>
            </p14:xfrm>
          </p:contentPart>
        </mc:Choice>
        <mc:Fallback>
          <p:pic>
            <p:nvPicPr>
              <p:cNvPr id="4" name="Ink 3">
                <a:extLst>
                  <a:ext uri="{FF2B5EF4-FFF2-40B4-BE49-F238E27FC236}">
                    <a16:creationId xmlns:a16="http://schemas.microsoft.com/office/drawing/2014/main" id="{7FED8C8C-C559-E025-DB8A-CF80A580D541}"/>
                  </a:ext>
                </a:extLst>
              </p:cNvPr>
              <p:cNvPicPr/>
              <p:nvPr/>
            </p:nvPicPr>
            <p:blipFill>
              <a:blip r:embed="rId4"/>
              <a:stretch>
                <a:fillRect/>
              </a:stretch>
            </p:blipFill>
            <p:spPr>
              <a:xfrm>
                <a:off x="4256728" y="1749798"/>
                <a:ext cx="1794960" cy="1103760"/>
              </a:xfrm>
              <a:prstGeom prst="rect">
                <a:avLst/>
              </a:prstGeom>
            </p:spPr>
          </p:pic>
        </mc:Fallback>
      </mc:AlternateContent>
    </p:spTree>
    <p:extLst>
      <p:ext uri="{BB962C8B-B14F-4D97-AF65-F5344CB8AC3E}">
        <p14:creationId xmlns:p14="http://schemas.microsoft.com/office/powerpoint/2010/main" val="1262835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426" y="152769"/>
            <a:ext cx="8911687" cy="827619"/>
          </a:xfrm>
        </p:spPr>
        <p:txBody>
          <a:bodyPr/>
          <a:lstStyle/>
          <a:p>
            <a:r>
              <a:rPr lang="en-US" dirty="0"/>
              <a:t>Systems, Models, and Simulation </a:t>
            </a:r>
          </a:p>
        </p:txBody>
      </p:sp>
      <p:sp>
        <p:nvSpPr>
          <p:cNvPr id="3" name="Content Placeholder 2"/>
          <p:cNvSpPr>
            <a:spLocks noGrp="1"/>
          </p:cNvSpPr>
          <p:nvPr>
            <p:ph idx="1"/>
          </p:nvPr>
        </p:nvSpPr>
        <p:spPr>
          <a:xfrm>
            <a:off x="1225485" y="1224392"/>
            <a:ext cx="10482606" cy="5480840"/>
          </a:xfrm>
        </p:spPr>
        <p:txBody>
          <a:bodyPr>
            <a:normAutofit lnSpcReduction="10000"/>
          </a:bodyPr>
          <a:lstStyle/>
          <a:p>
            <a:pPr marL="0" indent="0" algn="ctr">
              <a:buNone/>
            </a:pPr>
            <a:r>
              <a:rPr lang="en-US" sz="2000" b="1" dirty="0">
                <a:solidFill>
                  <a:srgbClr val="0070C0"/>
                </a:solidFill>
              </a:rPr>
              <a:t>Experiment with the Actual System vs. Experiment with a Model of the System. </a:t>
            </a:r>
          </a:p>
          <a:p>
            <a:pPr algn="just"/>
            <a:r>
              <a:rPr lang="en-US" sz="1800" b="1" dirty="0">
                <a:solidFill>
                  <a:srgbClr val="0070C0"/>
                </a:solidFill>
              </a:rPr>
              <a:t>Experiment with the Actual System: </a:t>
            </a:r>
            <a:r>
              <a:rPr lang="en-US" dirty="0"/>
              <a:t>If it is possible (and </a:t>
            </a:r>
            <a:r>
              <a:rPr lang="en-US" b="1" dirty="0">
                <a:solidFill>
                  <a:srgbClr val="00B050"/>
                </a:solidFill>
              </a:rPr>
              <a:t>cost-effective</a:t>
            </a:r>
            <a:r>
              <a:rPr lang="en-US" dirty="0"/>
              <a:t>) to alter the </a:t>
            </a:r>
            <a:r>
              <a:rPr lang="en-US" b="1" dirty="0">
                <a:solidFill>
                  <a:srgbClr val="00B050"/>
                </a:solidFill>
              </a:rPr>
              <a:t>system physically </a:t>
            </a:r>
            <a:r>
              <a:rPr lang="en-US" dirty="0"/>
              <a:t>and then let it operate under the new conditions, it is </a:t>
            </a:r>
            <a:r>
              <a:rPr lang="en-US" b="1" dirty="0">
                <a:solidFill>
                  <a:srgbClr val="00B050"/>
                </a:solidFill>
              </a:rPr>
              <a:t>probably desirable </a:t>
            </a:r>
            <a:r>
              <a:rPr lang="en-US" dirty="0"/>
              <a:t>to do so, for in this case there is no question about whether what we study is valid. </a:t>
            </a:r>
          </a:p>
          <a:p>
            <a:pPr algn="just"/>
            <a:r>
              <a:rPr lang="en-US" sz="1800" b="1" dirty="0">
                <a:solidFill>
                  <a:srgbClr val="0070C0"/>
                </a:solidFill>
              </a:rPr>
              <a:t>Experiment with a Model of the System: </a:t>
            </a:r>
            <a:r>
              <a:rPr lang="en-US" dirty="0"/>
              <a:t>However, it is rarely feasible to do this, because such an experiment would often be too costly or too disruptive, troublesome, to the system. </a:t>
            </a:r>
          </a:p>
          <a:p>
            <a:pPr algn="just">
              <a:buFont typeface="Wingdings" panose="05000000000000000000" pitchFamily="2" charset="2"/>
              <a:buChar char="v"/>
            </a:pPr>
            <a:r>
              <a:rPr lang="en-US" i="1" dirty="0">
                <a:solidFill>
                  <a:srgbClr val="0070C0"/>
                </a:solidFill>
              </a:rPr>
              <a:t>For example, a bank may be contemplating reducing the number of tellers to decrease costs, but actually trying this could lead to long customer delays and alienation, unfriendliness. More graphically, the “system” might not even exist, but we nevertheless want to study it in its various proposed alternative configurations to see how it should be built in the first place.</a:t>
            </a:r>
          </a:p>
          <a:p>
            <a:pPr algn="just">
              <a:buFont typeface="Wingdings" panose="05000000000000000000" pitchFamily="2" charset="2"/>
              <a:buChar char="v"/>
            </a:pPr>
            <a:r>
              <a:rPr lang="en-US" dirty="0"/>
              <a:t>   </a:t>
            </a:r>
            <a:r>
              <a:rPr lang="en-US" i="1" dirty="0">
                <a:solidFill>
                  <a:srgbClr val="0070C0"/>
                </a:solidFill>
              </a:rPr>
              <a:t>Similar examples of this situation might be a proposed communications network, or a strategic nuclear weapons system. </a:t>
            </a:r>
          </a:p>
          <a:p>
            <a:pPr algn="just"/>
            <a:r>
              <a:rPr lang="en-US" dirty="0">
                <a:solidFill>
                  <a:schemeClr val="tx1"/>
                </a:solidFill>
              </a:rPr>
              <a:t>For these reasons, it is usually necessary to build a model as a representation of the system and study it as a surrogate, replacement, for the actual system. </a:t>
            </a:r>
            <a:r>
              <a:rPr lang="en-US" dirty="0">
                <a:solidFill>
                  <a:schemeClr val="tx1"/>
                </a:solidFill>
                <a:highlight>
                  <a:srgbClr val="FFFF00"/>
                </a:highlight>
              </a:rPr>
              <a:t>When using a model, there is always the question of whether it accurately reflects the system for the purposes of the decisions to be made.</a:t>
            </a:r>
            <a:r>
              <a:rPr lang="en-US" dirty="0">
                <a:solidFill>
                  <a:schemeClr val="tx1"/>
                </a:solidFill>
              </a:rPr>
              <a:t> </a:t>
            </a:r>
          </a:p>
        </p:txBody>
      </p:sp>
    </p:spTree>
    <p:extLst>
      <p:ext uri="{BB962C8B-B14F-4D97-AF65-F5344CB8AC3E}">
        <p14:creationId xmlns:p14="http://schemas.microsoft.com/office/powerpoint/2010/main" val="873310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426" y="152769"/>
            <a:ext cx="8911687" cy="827619"/>
          </a:xfrm>
        </p:spPr>
        <p:txBody>
          <a:bodyPr/>
          <a:lstStyle/>
          <a:p>
            <a:r>
              <a:rPr lang="en-US" dirty="0"/>
              <a:t>Systems, Models, and Simulation </a:t>
            </a:r>
          </a:p>
        </p:txBody>
      </p:sp>
      <p:sp>
        <p:nvSpPr>
          <p:cNvPr id="3" name="Content Placeholder 2"/>
          <p:cNvSpPr>
            <a:spLocks noGrp="1"/>
          </p:cNvSpPr>
          <p:nvPr>
            <p:ph idx="1"/>
          </p:nvPr>
        </p:nvSpPr>
        <p:spPr>
          <a:xfrm>
            <a:off x="1225485" y="1224392"/>
            <a:ext cx="10482606" cy="5261250"/>
          </a:xfrm>
        </p:spPr>
        <p:txBody>
          <a:bodyPr/>
          <a:lstStyle/>
          <a:p>
            <a:pPr marL="0" indent="0" algn="ctr">
              <a:buNone/>
            </a:pPr>
            <a:r>
              <a:rPr lang="en-US" sz="2000" b="1" i="1" u="none" strike="noStrike" baseline="0" dirty="0">
                <a:solidFill>
                  <a:srgbClr val="0070C0"/>
                </a:solidFill>
                <a:latin typeface="+mj-lt"/>
              </a:rPr>
              <a:t>Physical Model vs. Mathematical Model. </a:t>
            </a:r>
          </a:p>
          <a:p>
            <a:pPr algn="just"/>
            <a:r>
              <a:rPr lang="en-US" sz="2000" b="1" i="1" u="none" strike="noStrike" baseline="0" dirty="0">
                <a:solidFill>
                  <a:srgbClr val="0070C0"/>
                </a:solidFill>
                <a:latin typeface="+mj-lt"/>
              </a:rPr>
              <a:t>Physical Model: </a:t>
            </a:r>
            <a:r>
              <a:rPr lang="en-US" sz="2000" b="0" i="0" u="none" strike="noStrike" baseline="0" dirty="0">
                <a:latin typeface="+mj-lt"/>
              </a:rPr>
              <a:t>To most people, the word “model” evokes images of clay cars in wind tunnels, cockpits disconnected from their airplanes to be used in pilot training, or miniature supertankers scurrying about in a swimming pool. These are examples of </a:t>
            </a:r>
            <a:r>
              <a:rPr lang="en-US" sz="2000" b="0" i="1" u="none" strike="noStrike" baseline="0" dirty="0">
                <a:latin typeface="+mj-lt"/>
              </a:rPr>
              <a:t>physical </a:t>
            </a:r>
            <a:r>
              <a:rPr lang="en-US" sz="2000" b="0" i="0" u="none" strike="noStrike" baseline="0" dirty="0">
                <a:latin typeface="+mj-lt"/>
              </a:rPr>
              <a:t>models (also called </a:t>
            </a:r>
            <a:r>
              <a:rPr lang="en-US" sz="2000" b="0" i="1" u="none" strike="noStrike" baseline="0" dirty="0">
                <a:latin typeface="+mj-lt"/>
              </a:rPr>
              <a:t>iconic </a:t>
            </a:r>
            <a:r>
              <a:rPr lang="en-US" sz="2000" b="0" i="0" u="none" strike="noStrike" baseline="0" dirty="0">
                <a:latin typeface="+mj-lt"/>
              </a:rPr>
              <a:t>models). </a:t>
            </a:r>
          </a:p>
          <a:p>
            <a:pPr algn="just"/>
            <a:endParaRPr lang="en-US" sz="2000" dirty="0">
              <a:latin typeface="+mj-lt"/>
            </a:endParaRPr>
          </a:p>
          <a:p>
            <a:pPr algn="just"/>
            <a:r>
              <a:rPr lang="en-US" sz="2000" b="0" i="0" u="none" strike="noStrike" baseline="0" dirty="0">
                <a:latin typeface="+mj-lt"/>
              </a:rPr>
              <a:t>Occasionally, however, it has been found useful to build physical models to study engineering or management</a:t>
            </a:r>
            <a:r>
              <a:rPr lang="en-US" sz="2000" dirty="0">
                <a:latin typeface="+mj-lt"/>
              </a:rPr>
              <a:t> </a:t>
            </a:r>
            <a:r>
              <a:rPr lang="en-US" sz="1800" b="0" i="0" u="none" strike="noStrike" baseline="0" dirty="0">
                <a:latin typeface="TimesLTStd-Roman"/>
              </a:rPr>
              <a:t> </a:t>
            </a:r>
            <a:r>
              <a:rPr lang="en-US" sz="2000" b="0" i="0" u="none" strike="noStrike" baseline="0" dirty="0">
                <a:latin typeface="+mj-lt"/>
              </a:rPr>
              <a:t>systems; examples include tabletop scale models of material-handling systems, and in at least one case a full-scale physical model of a fast-food restaurant inside a warehouse, complete with full-scale, real (and presumably hungry) humans [see Swart and </a:t>
            </a:r>
            <a:r>
              <a:rPr lang="en-US" sz="2000" b="0" i="0" u="none" strike="noStrike" baseline="0" dirty="0" err="1">
                <a:latin typeface="+mj-lt"/>
              </a:rPr>
              <a:t>Donno</a:t>
            </a:r>
            <a:r>
              <a:rPr lang="en-US" sz="2000" b="0" i="0" u="none" strike="noStrike" baseline="0" dirty="0">
                <a:latin typeface="+mj-lt"/>
              </a:rPr>
              <a:t> (1981)].</a:t>
            </a:r>
            <a:endParaRPr lang="en-US" sz="2000" dirty="0">
              <a:latin typeface="+mj-lt"/>
            </a:endParaRPr>
          </a:p>
          <a:p>
            <a:endParaRPr lang="en-US" dirty="0"/>
          </a:p>
        </p:txBody>
      </p:sp>
    </p:spTree>
    <p:extLst>
      <p:ext uri="{BB962C8B-B14F-4D97-AF65-F5344CB8AC3E}">
        <p14:creationId xmlns:p14="http://schemas.microsoft.com/office/powerpoint/2010/main" val="2384527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426" y="152769"/>
            <a:ext cx="8911687" cy="827619"/>
          </a:xfrm>
        </p:spPr>
        <p:txBody>
          <a:bodyPr/>
          <a:lstStyle/>
          <a:p>
            <a:r>
              <a:rPr lang="en-US" dirty="0"/>
              <a:t>Systems, Models, and Simulation </a:t>
            </a:r>
          </a:p>
        </p:txBody>
      </p:sp>
      <p:sp>
        <p:nvSpPr>
          <p:cNvPr id="3" name="Content Placeholder 2"/>
          <p:cNvSpPr>
            <a:spLocks noGrp="1"/>
          </p:cNvSpPr>
          <p:nvPr>
            <p:ph idx="1"/>
          </p:nvPr>
        </p:nvSpPr>
        <p:spPr>
          <a:xfrm>
            <a:off x="1366005" y="1206632"/>
            <a:ext cx="10482606" cy="4940739"/>
          </a:xfrm>
        </p:spPr>
        <p:txBody>
          <a:bodyPr/>
          <a:lstStyle/>
          <a:p>
            <a:r>
              <a:rPr lang="en-US" b="1" i="0" dirty="0">
                <a:solidFill>
                  <a:srgbClr val="202122"/>
                </a:solidFill>
                <a:effectLst/>
                <a:latin typeface="Arial" panose="020B0604020202020204" pitchFamily="34" charset="0"/>
              </a:rPr>
              <a:t>Modelling clay</a:t>
            </a:r>
            <a:r>
              <a:rPr lang="en-US" b="0" i="0" dirty="0">
                <a:solidFill>
                  <a:srgbClr val="202122"/>
                </a:solidFill>
                <a:effectLst/>
                <a:latin typeface="Arial" panose="020B0604020202020204" pitchFamily="34" charset="0"/>
              </a:rPr>
              <a:t> or </a:t>
            </a:r>
            <a:r>
              <a:rPr lang="en-US" b="1" i="0" dirty="0">
                <a:solidFill>
                  <a:srgbClr val="202122"/>
                </a:solidFill>
                <a:effectLst/>
                <a:latin typeface="Arial" panose="020B0604020202020204" pitchFamily="34" charset="0"/>
              </a:rPr>
              <a:t>modelling compound</a:t>
            </a:r>
            <a:r>
              <a:rPr lang="en-US" b="0" i="0" dirty="0">
                <a:solidFill>
                  <a:srgbClr val="202122"/>
                </a:solidFill>
                <a:effectLst/>
                <a:latin typeface="Arial" panose="020B0604020202020204" pitchFamily="34" charset="0"/>
              </a:rPr>
              <a:t> is any of a group of malleable substances used in building and sculpting. The material compositions and production processes vary considerably.</a:t>
            </a:r>
          </a:p>
          <a:p>
            <a:endParaRPr lang="en-US" dirty="0">
              <a:solidFill>
                <a:srgbClr val="202122"/>
              </a:solidFill>
              <a:latin typeface="Arial" panose="020B0604020202020204" pitchFamily="34" charset="0"/>
            </a:endParaRPr>
          </a:p>
          <a:p>
            <a:endParaRPr lang="en-US" dirty="0">
              <a:solidFill>
                <a:srgbClr val="202122"/>
              </a:solidFill>
              <a:latin typeface="Arial" panose="020B0604020202020204" pitchFamily="34" charset="0"/>
            </a:endParaRPr>
          </a:p>
          <a:p>
            <a:endParaRPr lang="en-US" dirty="0">
              <a:solidFill>
                <a:srgbClr val="202122"/>
              </a:solidFill>
              <a:latin typeface="Arial" panose="020B0604020202020204" pitchFamily="34" charset="0"/>
            </a:endParaRPr>
          </a:p>
          <a:p>
            <a:endParaRPr lang="en-US" dirty="0">
              <a:solidFill>
                <a:srgbClr val="202122"/>
              </a:solidFill>
              <a:latin typeface="Arial" panose="020B0604020202020204" pitchFamily="34" charset="0"/>
            </a:endParaRPr>
          </a:p>
          <a:p>
            <a:endParaRPr lang="en-US" b="1" dirty="0">
              <a:solidFill>
                <a:srgbClr val="202122"/>
              </a:solidFill>
              <a:latin typeface="Arial" panose="020B0604020202020204" pitchFamily="34" charset="0"/>
            </a:endParaRPr>
          </a:p>
          <a:p>
            <a:endParaRPr lang="en-US" b="1" dirty="0">
              <a:solidFill>
                <a:srgbClr val="202122"/>
              </a:solidFill>
              <a:latin typeface="Arial" panose="020B0604020202020204" pitchFamily="34" charset="0"/>
            </a:endParaRPr>
          </a:p>
          <a:p>
            <a:pPr marL="0" indent="0">
              <a:buNone/>
            </a:pPr>
            <a:endParaRPr lang="en-US" b="1" dirty="0">
              <a:solidFill>
                <a:srgbClr val="202122"/>
              </a:solidFill>
              <a:latin typeface="Arial" panose="020B0604020202020204" pitchFamily="34" charset="0"/>
            </a:endParaRPr>
          </a:p>
        </p:txBody>
      </p:sp>
      <p:sp>
        <p:nvSpPr>
          <p:cNvPr id="4" name="TextBox 3">
            <a:extLst>
              <a:ext uri="{FF2B5EF4-FFF2-40B4-BE49-F238E27FC236}">
                <a16:creationId xmlns:a16="http://schemas.microsoft.com/office/drawing/2014/main" id="{F43429D9-528A-8C66-9E98-4F19F419B942}"/>
              </a:ext>
            </a:extLst>
          </p:cNvPr>
          <p:cNvSpPr txBox="1"/>
          <p:nvPr/>
        </p:nvSpPr>
        <p:spPr>
          <a:xfrm>
            <a:off x="5637229" y="2974156"/>
            <a:ext cx="914400" cy="914400"/>
          </a:xfrm>
          <a:prstGeom prst="rect">
            <a:avLst/>
          </a:prstGeom>
          <a:noFill/>
        </p:spPr>
        <p:txBody>
          <a:bodyPr wrap="square" rtlCol="0">
            <a:spAutoFit/>
          </a:bodyPr>
          <a:lstStyle/>
          <a:p>
            <a:endParaRPr lang="en-US" dirty="0"/>
          </a:p>
        </p:txBody>
      </p:sp>
      <p:sp>
        <p:nvSpPr>
          <p:cNvPr id="5" name="TextBox 4">
            <a:extLst>
              <a:ext uri="{FF2B5EF4-FFF2-40B4-BE49-F238E27FC236}">
                <a16:creationId xmlns:a16="http://schemas.microsoft.com/office/drawing/2014/main" id="{4DB3287B-10EF-5FFC-7B04-7AA53DD6F228}"/>
              </a:ext>
            </a:extLst>
          </p:cNvPr>
          <p:cNvSpPr txBox="1"/>
          <p:nvPr/>
        </p:nvSpPr>
        <p:spPr>
          <a:xfrm>
            <a:off x="2050330" y="3888556"/>
            <a:ext cx="4044099" cy="307777"/>
          </a:xfrm>
          <a:prstGeom prst="rect">
            <a:avLst/>
          </a:prstGeom>
          <a:noFill/>
        </p:spPr>
        <p:txBody>
          <a:bodyPr wrap="square" rtlCol="0">
            <a:spAutoFit/>
          </a:bodyPr>
          <a:lstStyle/>
          <a:p>
            <a:r>
              <a:rPr lang="en-US" sz="1400" b="0" i="0" dirty="0">
                <a:solidFill>
                  <a:srgbClr val="202122"/>
                </a:solidFill>
                <a:effectLst/>
                <a:latin typeface="Arial" panose="020B0604020202020204" pitchFamily="34" charset="0"/>
              </a:rPr>
              <a:t>Industrial clay: a clay model of a BMW</a:t>
            </a:r>
            <a:endParaRPr lang="en-US" sz="1400" dirty="0"/>
          </a:p>
        </p:txBody>
      </p:sp>
      <p:pic>
        <p:nvPicPr>
          <p:cNvPr id="1028" name="Picture 4" descr="BMW 3 Series Sedan - Clay Model - Car Body Design">
            <a:extLst>
              <a:ext uri="{FF2B5EF4-FFF2-40B4-BE49-F238E27FC236}">
                <a16:creationId xmlns:a16="http://schemas.microsoft.com/office/drawing/2014/main" id="{D1773093-5728-A840-7F2D-04BEEAEA3E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8167" y="1979117"/>
            <a:ext cx="2466975" cy="184785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Wind Tunnel Clay Car Design Transportation Stock Image - Image of speed,  automobile: 153246009">
            <a:extLst>
              <a:ext uri="{FF2B5EF4-FFF2-40B4-BE49-F238E27FC236}">
                <a16:creationId xmlns:a16="http://schemas.microsoft.com/office/drawing/2014/main" id="{23DC50F4-3BF4-4D24-7D90-6233DF143F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89848" y="1979117"/>
            <a:ext cx="2724150" cy="184785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A.I. in the cockpit - Aerospace America">
            <a:extLst>
              <a:ext uri="{FF2B5EF4-FFF2-40B4-BE49-F238E27FC236}">
                <a16:creationId xmlns:a16="http://schemas.microsoft.com/office/drawing/2014/main" id="{81AF9B08-A4C4-8A4B-6ACD-0DB02694C8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28704" y="1979116"/>
            <a:ext cx="2857500" cy="184784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B5E987B-2426-FF82-7793-A5F0C6A9B7D4}"/>
              </a:ext>
            </a:extLst>
          </p:cNvPr>
          <p:cNvSpPr txBox="1"/>
          <p:nvPr/>
        </p:nvSpPr>
        <p:spPr>
          <a:xfrm>
            <a:off x="7074014" y="4042444"/>
            <a:ext cx="4044099" cy="307777"/>
          </a:xfrm>
          <a:prstGeom prst="rect">
            <a:avLst/>
          </a:prstGeom>
          <a:noFill/>
        </p:spPr>
        <p:txBody>
          <a:bodyPr wrap="square" rtlCol="0">
            <a:spAutoFit/>
          </a:bodyPr>
          <a:lstStyle/>
          <a:p>
            <a:r>
              <a:rPr lang="en-US" sz="1400" b="0" i="0" u="none" strike="noStrike" baseline="0" dirty="0">
                <a:latin typeface="+mj-lt"/>
              </a:rPr>
              <a:t>               cockpits for airplanes</a:t>
            </a:r>
            <a:endParaRPr lang="en-US" sz="1400" dirty="0"/>
          </a:p>
        </p:txBody>
      </p:sp>
    </p:spTree>
    <p:extLst>
      <p:ext uri="{BB962C8B-B14F-4D97-AF65-F5344CB8AC3E}">
        <p14:creationId xmlns:p14="http://schemas.microsoft.com/office/powerpoint/2010/main" val="12629772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426" y="152769"/>
            <a:ext cx="8911687" cy="827619"/>
          </a:xfrm>
        </p:spPr>
        <p:txBody>
          <a:bodyPr/>
          <a:lstStyle/>
          <a:p>
            <a:r>
              <a:rPr lang="en-US" dirty="0"/>
              <a:t>Systems, Models, and Simulation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25485" y="1224391"/>
                <a:ext cx="10482606" cy="4940739"/>
              </a:xfrm>
            </p:spPr>
            <p:txBody>
              <a:bodyPr/>
              <a:lstStyle/>
              <a:p>
                <a:pPr algn="just"/>
                <a:r>
                  <a:rPr lang="en-US" sz="2000" b="1" i="1" u="none" strike="noStrike" baseline="0" dirty="0">
                    <a:solidFill>
                      <a:srgbClr val="0070C0"/>
                    </a:solidFill>
                    <a:latin typeface="+mj-lt"/>
                  </a:rPr>
                  <a:t>Mathematical Model: </a:t>
                </a:r>
                <a:r>
                  <a:rPr lang="en-US" sz="2000" b="0" i="0" u="none" strike="noStrike" baseline="0" dirty="0">
                    <a:latin typeface="+mj-lt"/>
                  </a:rPr>
                  <a:t>But the vast majority of models built for such purposes are </a:t>
                </a:r>
                <a:r>
                  <a:rPr lang="en-US" sz="2000" b="0" i="1" u="none" strike="noStrike" baseline="0" dirty="0">
                    <a:latin typeface="+mj-lt"/>
                  </a:rPr>
                  <a:t>mathematical</a:t>
                </a:r>
                <a:r>
                  <a:rPr lang="en-US" sz="2000" b="0" i="0" u="none" strike="noStrike" baseline="0" dirty="0">
                    <a:latin typeface="+mj-lt"/>
                  </a:rPr>
                  <a:t>, representing a system in terms of logical and quantitative relationships that are then manipulated and changed to see how the model reacts, and thus how the system </a:t>
                </a:r>
                <a:r>
                  <a:rPr lang="en-US" sz="2000" b="0" i="1" u="none" strike="noStrike" baseline="0" dirty="0">
                    <a:latin typeface="+mj-lt"/>
                  </a:rPr>
                  <a:t>would </a:t>
                </a:r>
                <a:r>
                  <a:rPr lang="en-US" sz="2000" b="0" i="0" u="none" strike="noStrike" baseline="0" dirty="0">
                    <a:latin typeface="+mj-lt"/>
                  </a:rPr>
                  <a:t>react—</a:t>
                </a:r>
                <a:r>
                  <a:rPr lang="en-US" sz="2000" b="0" i="1" u="none" strike="noStrike" baseline="0" dirty="0">
                    <a:latin typeface="+mj-lt"/>
                  </a:rPr>
                  <a:t>if </a:t>
                </a:r>
                <a:r>
                  <a:rPr lang="en-US" sz="2000" b="0" i="0" u="none" strike="noStrike" baseline="0" dirty="0">
                    <a:latin typeface="+mj-lt"/>
                  </a:rPr>
                  <a:t>the mathematical model is a valid one. Perhaps the simplest example of a mathematical model is the familiar relation</a:t>
                </a:r>
              </a:p>
              <a:p>
                <a:pPr marL="0" indent="0" algn="just">
                  <a:buNone/>
                </a:pPr>
                <a:r>
                  <a:rPr lang="en-US" sz="2000" dirty="0">
                    <a:latin typeface="+mj-lt"/>
                  </a:rPr>
                  <a:t>                 d</a:t>
                </a:r>
                <a14:m>
                  <m:oMath xmlns:m="http://schemas.openxmlformats.org/officeDocument/2006/math">
                    <m:r>
                      <a:rPr lang="en-US" sz="2000" b="0" i="0" smtClean="0">
                        <a:latin typeface="Cambria Math" panose="02040503050406030204" pitchFamily="18" charset="0"/>
                      </a:rPr>
                      <m:t> </m:t>
                    </m:r>
                    <m:r>
                      <a:rPr lang="en-US" sz="2000" i="1" smtClean="0">
                        <a:latin typeface="Cambria Math" panose="02040503050406030204" pitchFamily="18" charset="0"/>
                      </a:rPr>
                      <m:t>=</m:t>
                    </m:r>
                    <m:r>
                      <a:rPr lang="en-US" sz="2000" b="0" i="1" smtClean="0">
                        <a:latin typeface="Cambria Math" panose="02040503050406030204" pitchFamily="18" charset="0"/>
                      </a:rPr>
                      <m:t> </m:t>
                    </m:r>
                  </m:oMath>
                </a14:m>
                <a:r>
                  <a:rPr lang="en-US" sz="2000" dirty="0">
                    <a:latin typeface="+mj-lt"/>
                  </a:rPr>
                  <a:t>rt                       </a:t>
                </a:r>
              </a:p>
              <a:p>
                <a:pPr algn="just"/>
                <a:r>
                  <a:rPr lang="en-US" sz="2000" b="0" i="0" u="none" strike="noStrike" baseline="0" dirty="0">
                    <a:latin typeface="+mj-lt"/>
                  </a:rPr>
                  <a:t>where </a:t>
                </a:r>
                <a:r>
                  <a:rPr lang="en-US" sz="2000" b="0" i="1" u="none" strike="noStrike" baseline="0" dirty="0">
                    <a:latin typeface="+mj-lt"/>
                  </a:rPr>
                  <a:t>r </a:t>
                </a:r>
                <a:r>
                  <a:rPr lang="en-US" sz="2000" b="0" i="0" u="none" strike="noStrike" baseline="0" dirty="0">
                    <a:latin typeface="+mj-lt"/>
                  </a:rPr>
                  <a:t>is the rate of travel, </a:t>
                </a:r>
                <a:r>
                  <a:rPr lang="en-US" sz="2000" b="0" i="1" u="none" strike="noStrike" baseline="0" dirty="0">
                    <a:latin typeface="+mj-lt"/>
                  </a:rPr>
                  <a:t>t </a:t>
                </a:r>
                <a:r>
                  <a:rPr lang="en-US" sz="2000" b="0" i="0" u="none" strike="noStrike" baseline="0" dirty="0">
                    <a:latin typeface="+mj-lt"/>
                  </a:rPr>
                  <a:t>is the time spent traveling, and </a:t>
                </a:r>
                <a:r>
                  <a:rPr lang="en-US" sz="2000" b="0" i="1" u="none" strike="noStrike" baseline="0" dirty="0">
                    <a:latin typeface="+mj-lt"/>
                  </a:rPr>
                  <a:t>d </a:t>
                </a:r>
                <a:r>
                  <a:rPr lang="en-US" sz="2000" b="0" i="0" u="none" strike="noStrike" baseline="0" dirty="0">
                    <a:latin typeface="+mj-lt"/>
                  </a:rPr>
                  <a:t>is the distance traveled. This might provide a valid model in one instance (e.g., a space probe to another planet after it has attained its flight velocity) but a very poor model for other purposes (e.g., rush-hour commuting on congested urban freeways). </a:t>
                </a:r>
                <a:r>
                  <a:rPr lang="en-US" sz="2000" dirty="0">
                    <a:latin typeface="+mj-lt"/>
                  </a:rPr>
                  <a:t> </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25485" y="1224391"/>
                <a:ext cx="10482606" cy="4940739"/>
              </a:xfrm>
              <a:blipFill>
                <a:blip r:embed="rId2"/>
                <a:stretch>
                  <a:fillRect l="-523" t="-741" r="-640"/>
                </a:stretch>
              </a:blipFill>
            </p:spPr>
            <p:txBody>
              <a:bodyPr/>
              <a:lstStyle/>
              <a:p>
                <a:r>
                  <a:rPr lang="en-US">
                    <a:noFill/>
                  </a:rPr>
                  <a:t> </a:t>
                </a:r>
              </a:p>
            </p:txBody>
          </p:sp>
        </mc:Fallback>
      </mc:AlternateContent>
    </p:spTree>
    <p:extLst>
      <p:ext uri="{BB962C8B-B14F-4D97-AF65-F5344CB8AC3E}">
        <p14:creationId xmlns:p14="http://schemas.microsoft.com/office/powerpoint/2010/main" val="1828442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426" y="152769"/>
            <a:ext cx="8911687" cy="827619"/>
          </a:xfrm>
        </p:spPr>
        <p:txBody>
          <a:bodyPr/>
          <a:lstStyle/>
          <a:p>
            <a:r>
              <a:rPr lang="en-US" dirty="0"/>
              <a:t>Systems, Models, and Simulation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25485" y="1224391"/>
                <a:ext cx="10482606" cy="4940739"/>
              </a:xfrm>
            </p:spPr>
            <p:txBody>
              <a:bodyPr/>
              <a:lstStyle/>
              <a:p>
                <a:pPr algn="just"/>
                <a:r>
                  <a:rPr lang="en-US" sz="2000" b="1" i="1" u="none" strike="noStrike" baseline="0" dirty="0">
                    <a:solidFill>
                      <a:srgbClr val="0070C0"/>
                    </a:solidFill>
                    <a:latin typeface="+mj-lt"/>
                  </a:rPr>
                  <a:t>Mathematical Model: </a:t>
                </a:r>
                <a:r>
                  <a:rPr lang="en-US" sz="2000" b="0" i="0" u="none" strike="noStrike" baseline="0" dirty="0">
                    <a:latin typeface="+mj-lt"/>
                  </a:rPr>
                  <a:t>But the vast majority of models built for such purposes are </a:t>
                </a:r>
                <a:r>
                  <a:rPr lang="en-US" sz="2000" b="0" i="1" u="none" strike="noStrike" baseline="0" dirty="0">
                    <a:latin typeface="+mj-lt"/>
                  </a:rPr>
                  <a:t>mathematical</a:t>
                </a:r>
                <a:r>
                  <a:rPr lang="en-US" sz="2000" b="0" i="0" u="none" strike="noStrike" baseline="0" dirty="0">
                    <a:latin typeface="+mj-lt"/>
                  </a:rPr>
                  <a:t>, representing a system in terms of logical and quantitative relationships that are then manipulated and changed to see how the model reacts, and thus how the system </a:t>
                </a:r>
                <a:r>
                  <a:rPr lang="en-US" sz="2000" b="0" i="1" u="none" strike="noStrike" baseline="0" dirty="0">
                    <a:latin typeface="+mj-lt"/>
                  </a:rPr>
                  <a:t>would </a:t>
                </a:r>
                <a:r>
                  <a:rPr lang="en-US" sz="2000" b="0" i="0" u="none" strike="noStrike" baseline="0" dirty="0">
                    <a:latin typeface="+mj-lt"/>
                  </a:rPr>
                  <a:t>react—</a:t>
                </a:r>
                <a:r>
                  <a:rPr lang="en-US" sz="2000" b="0" i="1" u="none" strike="noStrike" baseline="0" dirty="0">
                    <a:latin typeface="+mj-lt"/>
                  </a:rPr>
                  <a:t>if </a:t>
                </a:r>
                <a:r>
                  <a:rPr lang="en-US" sz="2000" b="0" i="0" u="none" strike="noStrike" baseline="0" dirty="0">
                    <a:latin typeface="+mj-lt"/>
                  </a:rPr>
                  <a:t>the mathematical model is a valid one. Perhaps the simplest example of a mathematical model is the familiar relation</a:t>
                </a:r>
              </a:p>
              <a:p>
                <a:pPr marL="0" indent="0" algn="just">
                  <a:buNone/>
                </a:pPr>
                <a:r>
                  <a:rPr lang="en-US" sz="2000" dirty="0">
                    <a:latin typeface="+mj-lt"/>
                  </a:rPr>
                  <a:t>                 d</a:t>
                </a:r>
                <a14:m>
                  <m:oMath xmlns:m="http://schemas.openxmlformats.org/officeDocument/2006/math">
                    <m:r>
                      <a:rPr lang="en-US" sz="2000" b="0" i="0" smtClean="0">
                        <a:latin typeface="Cambria Math" panose="02040503050406030204" pitchFamily="18" charset="0"/>
                      </a:rPr>
                      <m:t> </m:t>
                    </m:r>
                    <m:r>
                      <a:rPr lang="en-US" sz="2000" i="1" smtClean="0">
                        <a:latin typeface="Cambria Math" panose="02040503050406030204" pitchFamily="18" charset="0"/>
                      </a:rPr>
                      <m:t>=</m:t>
                    </m:r>
                    <m:r>
                      <a:rPr lang="en-US" sz="2000" b="0" i="1" smtClean="0">
                        <a:latin typeface="Cambria Math" panose="02040503050406030204" pitchFamily="18" charset="0"/>
                      </a:rPr>
                      <m:t> </m:t>
                    </m:r>
                  </m:oMath>
                </a14:m>
                <a:r>
                  <a:rPr lang="en-US" sz="2000" dirty="0">
                    <a:latin typeface="+mj-lt"/>
                  </a:rPr>
                  <a:t>rt                       </a:t>
                </a:r>
              </a:p>
              <a:p>
                <a:pPr algn="just"/>
                <a:r>
                  <a:rPr lang="en-US" sz="2000" b="0" i="0" u="none" strike="noStrike" baseline="0" dirty="0">
                    <a:latin typeface="+mj-lt"/>
                  </a:rPr>
                  <a:t>where </a:t>
                </a:r>
                <a:r>
                  <a:rPr lang="en-US" sz="2000" b="0" i="1" u="none" strike="noStrike" baseline="0" dirty="0">
                    <a:latin typeface="+mj-lt"/>
                  </a:rPr>
                  <a:t>r </a:t>
                </a:r>
                <a:r>
                  <a:rPr lang="en-US" sz="2000" b="0" i="0" u="none" strike="noStrike" baseline="0" dirty="0">
                    <a:latin typeface="+mj-lt"/>
                  </a:rPr>
                  <a:t>is the rate of travel, </a:t>
                </a:r>
                <a:r>
                  <a:rPr lang="en-US" sz="2000" b="0" i="1" u="none" strike="noStrike" baseline="0" dirty="0">
                    <a:latin typeface="+mj-lt"/>
                  </a:rPr>
                  <a:t>t </a:t>
                </a:r>
                <a:r>
                  <a:rPr lang="en-US" sz="2000" b="0" i="0" u="none" strike="noStrike" baseline="0" dirty="0">
                    <a:latin typeface="+mj-lt"/>
                  </a:rPr>
                  <a:t>is the time spent traveling, and </a:t>
                </a:r>
                <a:r>
                  <a:rPr lang="en-US" sz="2000" b="0" i="1" u="none" strike="noStrike" baseline="0" dirty="0">
                    <a:latin typeface="+mj-lt"/>
                  </a:rPr>
                  <a:t>d </a:t>
                </a:r>
                <a:r>
                  <a:rPr lang="en-US" sz="2000" b="0" i="0" u="none" strike="noStrike" baseline="0" dirty="0">
                    <a:latin typeface="+mj-lt"/>
                  </a:rPr>
                  <a:t>is the distance traveled. This might provide a valid model in one instance (e.g., a space probe to another planet after it has attained its flight velocity) but a very poor model for other purposes (e.g., rush-hour commuting on congested urban freeways). </a:t>
                </a:r>
                <a:r>
                  <a:rPr lang="en-US" sz="2000" dirty="0">
                    <a:latin typeface="+mj-lt"/>
                  </a:rPr>
                  <a:t> </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25485" y="1224391"/>
                <a:ext cx="10482606" cy="4940739"/>
              </a:xfrm>
              <a:blipFill>
                <a:blip r:embed="rId2"/>
                <a:stretch>
                  <a:fillRect l="-523" t="-741" r="-640"/>
                </a:stretch>
              </a:blipFill>
            </p:spPr>
            <p:txBody>
              <a:bodyPr/>
              <a:lstStyle/>
              <a:p>
                <a:r>
                  <a:rPr lang="en-US">
                    <a:noFill/>
                  </a:rPr>
                  <a:t> </a:t>
                </a:r>
              </a:p>
            </p:txBody>
          </p:sp>
        </mc:Fallback>
      </mc:AlternateContent>
    </p:spTree>
    <p:extLst>
      <p:ext uri="{BB962C8B-B14F-4D97-AF65-F5344CB8AC3E}">
        <p14:creationId xmlns:p14="http://schemas.microsoft.com/office/powerpoint/2010/main" val="10009113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426" y="152769"/>
            <a:ext cx="8911687" cy="827619"/>
          </a:xfrm>
        </p:spPr>
        <p:txBody>
          <a:bodyPr/>
          <a:lstStyle/>
          <a:p>
            <a:r>
              <a:rPr lang="en-US" dirty="0"/>
              <a:t>Systems, Models, and Simulation </a:t>
            </a:r>
          </a:p>
        </p:txBody>
      </p:sp>
      <p:sp>
        <p:nvSpPr>
          <p:cNvPr id="3" name="Content Placeholder 2"/>
          <p:cNvSpPr>
            <a:spLocks noGrp="1"/>
          </p:cNvSpPr>
          <p:nvPr>
            <p:ph idx="1"/>
          </p:nvPr>
        </p:nvSpPr>
        <p:spPr>
          <a:xfrm>
            <a:off x="1216058" y="1224391"/>
            <a:ext cx="10699421" cy="4940739"/>
          </a:xfrm>
        </p:spPr>
        <p:txBody>
          <a:bodyPr>
            <a:normAutofit fontScale="47500" lnSpcReduction="20000"/>
          </a:bodyPr>
          <a:lstStyle/>
          <a:p>
            <a:endParaRPr lang="en-US" dirty="0"/>
          </a:p>
          <a:p>
            <a:pPr marL="0" indent="0" algn="ctr">
              <a:buNone/>
            </a:pPr>
            <a:r>
              <a:rPr lang="en-US" sz="6200" b="1" i="1" u="none" strike="noStrike" baseline="0" dirty="0">
                <a:solidFill>
                  <a:srgbClr val="0070C0"/>
                </a:solidFill>
                <a:latin typeface="+mj-lt"/>
              </a:rPr>
              <a:t>Analytical Solution vs. Simulation. </a:t>
            </a:r>
          </a:p>
          <a:p>
            <a:pPr algn="just"/>
            <a:r>
              <a:rPr lang="en-US" sz="5000" b="1" i="1" u="none" strike="noStrike" baseline="0" dirty="0">
                <a:solidFill>
                  <a:srgbClr val="0070C0"/>
                </a:solidFill>
                <a:latin typeface="+mj-lt"/>
              </a:rPr>
              <a:t>Analytical Solution: </a:t>
            </a:r>
            <a:r>
              <a:rPr lang="en-US" sz="5000" b="0" i="0" u="none" strike="noStrike" baseline="0" dirty="0">
                <a:latin typeface="+mj-lt"/>
              </a:rPr>
              <a:t>Once we have built a mathematical model, it must then be examined to see how it can be used to answer the questions of interest about the system it is supposed to represent.</a:t>
            </a:r>
          </a:p>
          <a:p>
            <a:pPr marL="0" indent="0" algn="just">
              <a:buNone/>
            </a:pPr>
            <a:r>
              <a:rPr lang="en-US" sz="5000" b="0" i="0" u="none" strike="noStrike" baseline="0" dirty="0">
                <a:latin typeface="+mj-lt"/>
              </a:rPr>
              <a:t> </a:t>
            </a:r>
          </a:p>
          <a:p>
            <a:pPr algn="just"/>
            <a:r>
              <a:rPr lang="en-US" sz="5000" b="0" i="0" u="none" strike="noStrike" baseline="0" dirty="0">
                <a:latin typeface="+mj-lt"/>
              </a:rPr>
              <a:t>If the model is simple enough, it may be possible to work with its relationships and quantities to get an exact, </a:t>
            </a:r>
            <a:r>
              <a:rPr lang="en-US" sz="5000" b="0" i="1" u="none" strike="noStrike" baseline="0" dirty="0">
                <a:latin typeface="+mj-lt"/>
              </a:rPr>
              <a:t>analytical </a:t>
            </a:r>
            <a:r>
              <a:rPr lang="en-US" sz="5000" b="0" i="0" u="none" strike="noStrike" baseline="0" dirty="0">
                <a:latin typeface="+mj-lt"/>
              </a:rPr>
              <a:t>solution. </a:t>
            </a:r>
          </a:p>
          <a:p>
            <a:pPr marL="0" indent="0" algn="just">
              <a:buNone/>
            </a:pPr>
            <a:endParaRPr lang="en-US" sz="5000" b="0" i="0" u="none" strike="noStrike" baseline="0" dirty="0">
              <a:latin typeface="+mj-lt"/>
            </a:endParaRPr>
          </a:p>
          <a:p>
            <a:pPr algn="just"/>
            <a:r>
              <a:rPr lang="en-US" sz="5000" b="0" i="0" u="none" strike="noStrike" baseline="0" dirty="0">
                <a:latin typeface="+mj-lt"/>
              </a:rPr>
              <a:t>In the </a:t>
            </a:r>
            <a:r>
              <a:rPr lang="en-US" sz="5000" b="0" i="1" u="none" strike="noStrike" baseline="0" dirty="0">
                <a:latin typeface="+mj-lt"/>
              </a:rPr>
              <a:t>d =</a:t>
            </a:r>
            <a:r>
              <a:rPr lang="en-US" sz="5000" b="0" i="0" u="none" strike="noStrike" baseline="0" dirty="0">
                <a:latin typeface="+mj-lt"/>
              </a:rPr>
              <a:t> </a:t>
            </a:r>
            <a:r>
              <a:rPr lang="en-US" sz="5000" b="0" i="1" u="none" strike="noStrike" baseline="0" dirty="0">
                <a:latin typeface="+mj-lt"/>
              </a:rPr>
              <a:t>rt </a:t>
            </a:r>
            <a:r>
              <a:rPr lang="en-US" sz="5000" b="0" i="0" u="none" strike="noStrike" baseline="0" dirty="0">
                <a:latin typeface="+mj-lt"/>
              </a:rPr>
              <a:t>example, if we know the distance to be traveled and the velocity, then we can work with the model to get </a:t>
            </a:r>
            <a:r>
              <a:rPr lang="en-US" sz="5000" b="0" i="1" u="none" strike="noStrike" baseline="0" dirty="0">
                <a:latin typeface="+mj-lt"/>
              </a:rPr>
              <a:t>t =</a:t>
            </a:r>
            <a:r>
              <a:rPr lang="en-US" sz="5000" b="0" i="0" u="none" strike="noStrike" baseline="0" dirty="0">
                <a:latin typeface="+mj-lt"/>
              </a:rPr>
              <a:t> </a:t>
            </a:r>
            <a:r>
              <a:rPr lang="en-US" sz="5000" b="0" i="1" u="none" strike="noStrike" baseline="0" dirty="0">
                <a:latin typeface="+mj-lt"/>
              </a:rPr>
              <a:t>d/r </a:t>
            </a:r>
            <a:r>
              <a:rPr lang="en-US" sz="5000" b="0" i="0" u="none" strike="noStrike" baseline="0" dirty="0">
                <a:latin typeface="+mj-lt"/>
              </a:rPr>
              <a:t>as the time that will be required. This is a very simple, closed-form solution obtainable with just paper and pencil, </a:t>
            </a:r>
          </a:p>
          <a:p>
            <a:pPr algn="just"/>
            <a:endParaRPr lang="en-US" sz="6200" dirty="0">
              <a:latin typeface="+mj-lt"/>
            </a:endParaRPr>
          </a:p>
        </p:txBody>
      </p:sp>
    </p:spTree>
    <p:extLst>
      <p:ext uri="{BB962C8B-B14F-4D97-AF65-F5344CB8AC3E}">
        <p14:creationId xmlns:p14="http://schemas.microsoft.com/office/powerpoint/2010/main" val="3829974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426" y="152769"/>
            <a:ext cx="8911687" cy="827619"/>
          </a:xfrm>
        </p:spPr>
        <p:txBody>
          <a:bodyPr/>
          <a:lstStyle/>
          <a:p>
            <a:r>
              <a:rPr lang="en-US" dirty="0"/>
              <a:t>Systems, Models, and Simulation </a:t>
            </a:r>
          </a:p>
        </p:txBody>
      </p:sp>
      <p:sp>
        <p:nvSpPr>
          <p:cNvPr id="3" name="Content Placeholder 2"/>
          <p:cNvSpPr>
            <a:spLocks noGrp="1"/>
          </p:cNvSpPr>
          <p:nvPr>
            <p:ph idx="1"/>
          </p:nvPr>
        </p:nvSpPr>
        <p:spPr>
          <a:xfrm>
            <a:off x="1300899" y="1224391"/>
            <a:ext cx="10407191" cy="5346091"/>
          </a:xfrm>
        </p:spPr>
        <p:txBody>
          <a:bodyPr>
            <a:normAutofit fontScale="32500" lnSpcReduction="20000"/>
          </a:bodyPr>
          <a:lstStyle/>
          <a:p>
            <a:endParaRPr lang="en-US" dirty="0"/>
          </a:p>
          <a:p>
            <a:pPr algn="just"/>
            <a:r>
              <a:rPr lang="en-US" sz="6200" b="1" i="1" u="none" strike="noStrike" baseline="0" dirty="0">
                <a:solidFill>
                  <a:srgbClr val="0070C0"/>
                </a:solidFill>
                <a:latin typeface="+mj-lt"/>
              </a:rPr>
              <a:t>Simulation: </a:t>
            </a:r>
            <a:r>
              <a:rPr lang="en-US" sz="6200" b="0" i="0" u="none" strike="noStrike" baseline="0" dirty="0">
                <a:latin typeface="+mj-lt"/>
              </a:rPr>
              <a:t>But some </a:t>
            </a:r>
            <a:r>
              <a:rPr lang="en-US" sz="6200" b="0" i="0" u="none" strike="noStrike" baseline="0" dirty="0">
                <a:highlight>
                  <a:srgbClr val="FFFF00"/>
                </a:highlight>
                <a:latin typeface="+mj-lt"/>
              </a:rPr>
              <a:t>analytical solutions can become extraordinarily complex, requiring vast computing resources</a:t>
            </a:r>
            <a:r>
              <a:rPr lang="en-US" sz="6200" b="0" i="0" u="none" strike="noStrike" baseline="0" dirty="0">
                <a:latin typeface="+mj-lt"/>
              </a:rPr>
              <a:t>; inverting a large </a:t>
            </a:r>
            <a:r>
              <a:rPr lang="en-US" sz="6200" b="0" i="0" u="none" strike="noStrike" baseline="0" dirty="0" err="1">
                <a:latin typeface="+mj-lt"/>
              </a:rPr>
              <a:t>nonsparse</a:t>
            </a:r>
            <a:r>
              <a:rPr lang="en-US" sz="6200" b="0" i="0" u="none" strike="noStrike" baseline="0" dirty="0">
                <a:latin typeface="+mj-lt"/>
              </a:rPr>
              <a:t> matrix is a well-known example of a situation in which there is an analytical formula known in principle, but obtaining it numerically in a given instance is far from trivial. </a:t>
            </a:r>
          </a:p>
          <a:p>
            <a:pPr marL="0" indent="0" algn="just">
              <a:buNone/>
            </a:pPr>
            <a:endParaRPr lang="en-US" sz="6200" b="0" i="0" u="none" strike="noStrike" baseline="0" dirty="0">
              <a:latin typeface="+mj-lt"/>
            </a:endParaRPr>
          </a:p>
          <a:p>
            <a:pPr algn="just"/>
            <a:r>
              <a:rPr lang="en-US" sz="6200" b="0" i="0" u="none" strike="noStrike" baseline="0" dirty="0">
                <a:latin typeface="+mj-lt"/>
              </a:rPr>
              <a:t>If an analytical solution to a </a:t>
            </a:r>
            <a:r>
              <a:rPr lang="en-US" sz="6200" b="0" i="0" u="none" strike="noStrike" baseline="0" dirty="0">
                <a:highlight>
                  <a:srgbClr val="FFFF00"/>
                </a:highlight>
                <a:latin typeface="+mj-lt"/>
              </a:rPr>
              <a:t>mathematical model is available and is computationally efficient</a:t>
            </a:r>
            <a:r>
              <a:rPr lang="en-US" sz="6200" b="0" i="0" u="none" strike="noStrike" baseline="0" dirty="0">
                <a:latin typeface="+mj-lt"/>
              </a:rPr>
              <a:t>, it is usually desirable to study the model in this way rather than via a simulation. </a:t>
            </a:r>
          </a:p>
          <a:p>
            <a:pPr marL="0" indent="0" algn="just">
              <a:buNone/>
            </a:pPr>
            <a:endParaRPr lang="en-US" sz="6200" b="0" i="0" u="none" strike="noStrike" baseline="0" dirty="0">
              <a:latin typeface="+mj-lt"/>
            </a:endParaRPr>
          </a:p>
          <a:p>
            <a:pPr algn="just"/>
            <a:r>
              <a:rPr lang="en-US" sz="6200" b="0" i="0" u="none" strike="noStrike" baseline="0" dirty="0">
                <a:latin typeface="+mj-lt"/>
              </a:rPr>
              <a:t>However, many systems are highly complex, so that valid mathematical models of them are themselves complex, precluding any possibility of an analytical solution. </a:t>
            </a:r>
          </a:p>
          <a:p>
            <a:pPr algn="just"/>
            <a:endParaRPr lang="en-US" sz="6200" b="0" i="0" u="none" strike="noStrike" baseline="0" dirty="0">
              <a:latin typeface="+mj-lt"/>
            </a:endParaRPr>
          </a:p>
          <a:p>
            <a:pPr algn="just"/>
            <a:r>
              <a:rPr lang="en-US" sz="6200" b="0" i="0" u="none" strike="noStrike" baseline="0" dirty="0">
                <a:latin typeface="+mj-lt"/>
              </a:rPr>
              <a:t>In this case, the model must be studied by means of </a:t>
            </a:r>
            <a:r>
              <a:rPr lang="en-US" sz="6200" b="0" i="1" u="none" strike="noStrike" baseline="0" dirty="0">
                <a:latin typeface="+mj-lt"/>
              </a:rPr>
              <a:t>simulation</a:t>
            </a:r>
            <a:r>
              <a:rPr lang="en-US" sz="6200" b="0" i="0" u="none" strike="noStrike" baseline="0" dirty="0">
                <a:latin typeface="+mj-lt"/>
              </a:rPr>
              <a:t>, i.e., numerically exercising the model for the inputs in question to see how they affect the output measures of performance.</a:t>
            </a:r>
            <a:endParaRPr lang="en-US" sz="6200" dirty="0">
              <a:latin typeface="+mj-lt"/>
            </a:endParaRPr>
          </a:p>
        </p:txBody>
      </p:sp>
    </p:spTree>
    <p:extLst>
      <p:ext uri="{BB962C8B-B14F-4D97-AF65-F5344CB8AC3E}">
        <p14:creationId xmlns:p14="http://schemas.microsoft.com/office/powerpoint/2010/main" val="10600823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426" y="152769"/>
            <a:ext cx="8911687" cy="827619"/>
          </a:xfrm>
        </p:spPr>
        <p:txBody>
          <a:bodyPr/>
          <a:lstStyle/>
          <a:p>
            <a:r>
              <a:rPr lang="en-US" dirty="0"/>
              <a:t>Systems, Models, and Simulation </a:t>
            </a:r>
          </a:p>
        </p:txBody>
      </p:sp>
      <p:sp>
        <p:nvSpPr>
          <p:cNvPr id="3" name="Content Placeholder 2"/>
          <p:cNvSpPr>
            <a:spLocks noGrp="1"/>
          </p:cNvSpPr>
          <p:nvPr>
            <p:ph idx="1"/>
          </p:nvPr>
        </p:nvSpPr>
        <p:spPr>
          <a:xfrm>
            <a:off x="1225484" y="1224391"/>
            <a:ext cx="10755983" cy="4940739"/>
          </a:xfrm>
        </p:spPr>
        <p:txBody>
          <a:bodyPr/>
          <a:lstStyle/>
          <a:p>
            <a:pPr algn="just"/>
            <a:endParaRPr lang="en-US" b="0" i="0" u="none" strike="noStrike" baseline="0" dirty="0">
              <a:latin typeface="+mj-lt"/>
            </a:endParaRPr>
          </a:p>
          <a:p>
            <a:pPr algn="just"/>
            <a:r>
              <a:rPr lang="en-US" b="0" i="0" u="none" strike="noStrike" baseline="0" dirty="0">
                <a:latin typeface="+mj-lt"/>
              </a:rPr>
              <a:t>Given, then, that we have a mathematical model to be studied by means of simulation (henceforth referred to as a </a:t>
            </a:r>
            <a:r>
              <a:rPr lang="en-US" b="0" i="1" u="none" strike="noStrike" baseline="0" dirty="0">
                <a:latin typeface="+mj-lt"/>
              </a:rPr>
              <a:t>simulation model</a:t>
            </a:r>
            <a:r>
              <a:rPr lang="en-US" b="0" i="0" u="none" strike="noStrike" baseline="0" dirty="0">
                <a:latin typeface="+mj-lt"/>
              </a:rPr>
              <a:t>), we must then look for particular tools to do this. It is useful for this purpose to classify simulation models along three different dimensions:</a:t>
            </a:r>
          </a:p>
          <a:p>
            <a:pPr marL="0" indent="0" algn="l">
              <a:buNone/>
            </a:pPr>
            <a:endParaRPr lang="en-US" sz="2400" b="1" i="1" u="none" strike="noStrike" baseline="0" dirty="0">
              <a:solidFill>
                <a:srgbClr val="0070C0"/>
              </a:solidFill>
              <a:latin typeface="TimesLTStd-Italic"/>
            </a:endParaRPr>
          </a:p>
          <a:p>
            <a:pPr marL="0" indent="0" algn="l">
              <a:buNone/>
            </a:pPr>
            <a:r>
              <a:rPr lang="en-US" sz="2400" b="1" i="1" u="none" strike="noStrike" baseline="0" dirty="0">
                <a:solidFill>
                  <a:srgbClr val="0070C0"/>
                </a:solidFill>
                <a:latin typeface="TimesLTStd-Italic"/>
              </a:rPr>
              <a:t>Static vs. Dynamic Simulation Models. </a:t>
            </a:r>
          </a:p>
          <a:p>
            <a:pPr algn="l"/>
            <a:r>
              <a:rPr lang="en-US" sz="2000" b="0" i="0" u="none" strike="noStrike" baseline="0" dirty="0"/>
              <a:t>A </a:t>
            </a:r>
            <a:r>
              <a:rPr lang="en-US" sz="2000" b="0" i="1" u="none" strike="noStrike" baseline="0" dirty="0"/>
              <a:t>static </a:t>
            </a:r>
            <a:r>
              <a:rPr lang="en-US" sz="2000" b="0" i="0" u="none" strike="noStrike" baseline="0" dirty="0"/>
              <a:t>simulation model is a representation of a system at a particular time, or one that may be used to represent a system in which time simply plays no role; examples of </a:t>
            </a:r>
            <a:r>
              <a:rPr lang="en-US" sz="2000" b="0" i="0" u="none" strike="noStrike" baseline="0" dirty="0">
                <a:highlight>
                  <a:srgbClr val="FFFF00"/>
                </a:highlight>
              </a:rPr>
              <a:t>static simulations are certain Monte Carlo models</a:t>
            </a:r>
            <a:r>
              <a:rPr lang="en-US" sz="2000" b="0" i="0" u="none" strike="noStrike" baseline="0" dirty="0"/>
              <a:t>. </a:t>
            </a:r>
          </a:p>
          <a:p>
            <a:pPr algn="l"/>
            <a:endParaRPr lang="en-US" sz="2000" b="0" i="0" u="none" strike="noStrike" baseline="0" dirty="0"/>
          </a:p>
          <a:p>
            <a:pPr algn="l"/>
            <a:r>
              <a:rPr lang="en-US" sz="2000" b="0" i="0" u="none" strike="noStrike" baseline="0" dirty="0"/>
              <a:t>On the other hand, a </a:t>
            </a:r>
            <a:r>
              <a:rPr lang="en-US" sz="2000" b="0" i="1" u="none" strike="noStrike" baseline="0" dirty="0"/>
              <a:t>dynamic </a:t>
            </a:r>
            <a:r>
              <a:rPr lang="en-US" sz="2000" b="0" i="0" u="none" strike="noStrike" baseline="0" dirty="0"/>
              <a:t>simulation model represents a system as it evolves over time, such as a </a:t>
            </a:r>
            <a:r>
              <a:rPr lang="en-US" sz="2000" b="0" i="0" u="none" strike="noStrike" baseline="0" dirty="0">
                <a:highlight>
                  <a:srgbClr val="FFFF00"/>
                </a:highlight>
              </a:rPr>
              <a:t>conveyor system in a factory</a:t>
            </a:r>
            <a:r>
              <a:rPr lang="en-US" sz="2000" b="0" i="0" u="none" strike="noStrike" baseline="0" dirty="0"/>
              <a:t>.</a:t>
            </a:r>
            <a:endParaRPr lang="en-US" sz="2000" dirty="0"/>
          </a:p>
        </p:txBody>
      </p:sp>
    </p:spTree>
    <p:extLst>
      <p:ext uri="{BB962C8B-B14F-4D97-AF65-F5344CB8AC3E}">
        <p14:creationId xmlns:p14="http://schemas.microsoft.com/office/powerpoint/2010/main" val="3390343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426" y="152769"/>
            <a:ext cx="8911687" cy="827619"/>
          </a:xfrm>
        </p:spPr>
        <p:txBody>
          <a:bodyPr/>
          <a:lstStyle/>
          <a:p>
            <a:r>
              <a:rPr lang="en-US" dirty="0"/>
              <a:t>Systems, Models, and Simulation </a:t>
            </a:r>
          </a:p>
        </p:txBody>
      </p:sp>
      <p:sp>
        <p:nvSpPr>
          <p:cNvPr id="3" name="Content Placeholder 2"/>
          <p:cNvSpPr>
            <a:spLocks noGrp="1"/>
          </p:cNvSpPr>
          <p:nvPr>
            <p:ph idx="1"/>
          </p:nvPr>
        </p:nvSpPr>
        <p:spPr>
          <a:xfrm>
            <a:off x="1225485" y="1073562"/>
            <a:ext cx="10624008" cy="5480840"/>
          </a:xfrm>
        </p:spPr>
        <p:txBody>
          <a:bodyPr>
            <a:normAutofit fontScale="92500" lnSpcReduction="10000"/>
          </a:bodyPr>
          <a:lstStyle/>
          <a:p>
            <a:pPr marL="0" indent="0" algn="ctr">
              <a:buNone/>
            </a:pPr>
            <a:r>
              <a:rPr lang="en-US" sz="2600" b="1" i="1" u="none" strike="noStrike" baseline="0" dirty="0">
                <a:solidFill>
                  <a:srgbClr val="0070C0"/>
                </a:solidFill>
              </a:rPr>
              <a:t>Deterministic vs. Stochastic Simulation Models</a:t>
            </a:r>
            <a:r>
              <a:rPr lang="en-US" sz="2600" b="1" i="0" u="none" strike="noStrike" baseline="0" dirty="0">
                <a:solidFill>
                  <a:srgbClr val="0070C0"/>
                </a:solidFill>
              </a:rPr>
              <a:t>. </a:t>
            </a:r>
          </a:p>
          <a:p>
            <a:pPr algn="just"/>
            <a:r>
              <a:rPr lang="en-US" sz="2000" b="0" i="0" u="none" strike="noStrike" baseline="0" dirty="0"/>
              <a:t>If a simulation model does not contain any probabilistic (i.e., random) components, it is called </a:t>
            </a:r>
            <a:r>
              <a:rPr lang="en-US" sz="2000" b="0" i="1" u="none" strike="noStrike" baseline="0" dirty="0">
                <a:highlight>
                  <a:srgbClr val="FFFF00"/>
                </a:highlight>
              </a:rPr>
              <a:t>deterministic</a:t>
            </a:r>
            <a:r>
              <a:rPr lang="en-US" sz="2000" b="0" i="0" u="none" strike="noStrike" baseline="0" dirty="0"/>
              <a:t>; a complicated (and analytically intractable) system of differential equations describing </a:t>
            </a:r>
            <a:r>
              <a:rPr lang="en-US" sz="2000" b="0" i="0" u="none" strike="noStrike" baseline="0" dirty="0">
                <a:highlight>
                  <a:srgbClr val="FFFF00"/>
                </a:highlight>
              </a:rPr>
              <a:t>a chemical reaction </a:t>
            </a:r>
            <a:r>
              <a:rPr lang="en-US" sz="2000" b="0" i="0" u="none" strike="noStrike" baseline="0" dirty="0"/>
              <a:t>might be such a model. </a:t>
            </a:r>
          </a:p>
          <a:p>
            <a:pPr algn="just"/>
            <a:r>
              <a:rPr lang="en-US" sz="2000" b="1" i="1" u="none" strike="noStrike" baseline="0" dirty="0">
                <a:solidFill>
                  <a:srgbClr val="0070C0"/>
                </a:solidFill>
              </a:rPr>
              <a:t>Deterministic Simulation Model: </a:t>
            </a:r>
            <a:r>
              <a:rPr lang="en-US" sz="2000" b="0" i="0" u="none" strike="noStrike" baseline="0" dirty="0"/>
              <a:t>In deterministic models, the output is “determined” once the set of input quantities and relationships in the model have been specified, even though it might take a lot of computer time to evaluate what it is.</a:t>
            </a:r>
          </a:p>
          <a:p>
            <a:pPr algn="just"/>
            <a:endParaRPr lang="en-US" sz="2000" dirty="0"/>
          </a:p>
          <a:p>
            <a:pPr algn="just"/>
            <a:r>
              <a:rPr lang="en-US" sz="2000" b="1" i="1" u="none" strike="noStrike" baseline="0" dirty="0">
                <a:solidFill>
                  <a:srgbClr val="0070C0"/>
                </a:solidFill>
              </a:rPr>
              <a:t>Stochastic Simulation Model: </a:t>
            </a:r>
            <a:r>
              <a:rPr lang="en-US" sz="2000" b="0" i="0" u="none" strike="noStrike" baseline="0" dirty="0"/>
              <a:t>Many systems, however, must be modeled as having at least some random input components, and these give rise to </a:t>
            </a:r>
            <a:r>
              <a:rPr lang="en-US" sz="2000" b="0" i="1" u="none" strike="noStrike" baseline="0" dirty="0"/>
              <a:t>stochastic </a:t>
            </a:r>
            <a:r>
              <a:rPr lang="en-US" sz="2000" b="0" i="0" u="none" strike="noStrike" baseline="0" dirty="0"/>
              <a:t>simulation models. (For an example of the danger of ignoring randomness in modeling a system. </a:t>
            </a:r>
          </a:p>
          <a:p>
            <a:pPr algn="just"/>
            <a:endParaRPr lang="en-US" sz="2000" b="0" i="0" u="none" strike="noStrike" baseline="0" dirty="0"/>
          </a:p>
          <a:p>
            <a:pPr algn="just"/>
            <a:r>
              <a:rPr lang="en-US" sz="2000" b="0" i="0" u="none" strike="noStrike" baseline="0" dirty="0"/>
              <a:t>Most </a:t>
            </a:r>
            <a:r>
              <a:rPr lang="en-US" sz="2000" b="0" i="0" u="none" strike="noStrike" baseline="0" dirty="0">
                <a:highlight>
                  <a:srgbClr val="FFFF00"/>
                </a:highlight>
              </a:rPr>
              <a:t>queueing and inventory systems are modeled stochastically</a:t>
            </a:r>
            <a:r>
              <a:rPr lang="en-US" sz="2000" b="0" i="0" u="none" strike="noStrike" baseline="0" dirty="0"/>
              <a:t>.  Stochastic simulation models produce </a:t>
            </a:r>
            <a:r>
              <a:rPr lang="en-US" sz="2000" b="0" i="0" u="none" strike="noStrike" baseline="0" dirty="0">
                <a:highlight>
                  <a:srgbClr val="FFFF00"/>
                </a:highlight>
              </a:rPr>
              <a:t>output that is itself random</a:t>
            </a:r>
            <a:r>
              <a:rPr lang="en-US" sz="2000" b="0" i="0" u="none" strike="noStrike" baseline="0" dirty="0"/>
              <a:t>, and must therefore be treated as only an estimate of the true characteristics of the model; this is one of the main disadvantages of simulation</a:t>
            </a:r>
            <a:endParaRPr lang="en-US" sz="2000" dirty="0"/>
          </a:p>
        </p:txBody>
      </p:sp>
    </p:spTree>
    <p:extLst>
      <p:ext uri="{BB962C8B-B14F-4D97-AF65-F5344CB8AC3E}">
        <p14:creationId xmlns:p14="http://schemas.microsoft.com/office/powerpoint/2010/main" val="18613413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426" y="152769"/>
            <a:ext cx="8911687" cy="808765"/>
          </a:xfrm>
        </p:spPr>
        <p:txBody>
          <a:bodyPr/>
          <a:lstStyle/>
          <a:p>
            <a:r>
              <a:rPr lang="en-US" dirty="0"/>
              <a:t>Systems, Models, and Simulation </a:t>
            </a:r>
          </a:p>
        </p:txBody>
      </p:sp>
      <p:sp>
        <p:nvSpPr>
          <p:cNvPr id="3" name="Content Placeholder 2"/>
          <p:cNvSpPr>
            <a:spLocks noGrp="1"/>
          </p:cNvSpPr>
          <p:nvPr>
            <p:ph idx="1"/>
          </p:nvPr>
        </p:nvSpPr>
        <p:spPr>
          <a:xfrm>
            <a:off x="1225485" y="1224391"/>
            <a:ext cx="10482606" cy="4780483"/>
          </a:xfrm>
        </p:spPr>
        <p:txBody>
          <a:bodyPr/>
          <a:lstStyle/>
          <a:p>
            <a:pPr marL="0" indent="0" algn="l">
              <a:buNone/>
            </a:pPr>
            <a:r>
              <a:rPr lang="en-US" sz="2400" b="1" i="1" u="none" strike="noStrike" baseline="0" dirty="0">
                <a:solidFill>
                  <a:srgbClr val="0070C0"/>
                </a:solidFill>
                <a:latin typeface="+mj-lt"/>
              </a:rPr>
              <a:t>Continuous vs. Discrete Simulation Models. </a:t>
            </a:r>
          </a:p>
          <a:p>
            <a:pPr algn="just"/>
            <a:r>
              <a:rPr lang="en-US" sz="1800" b="0" i="0" u="none" strike="noStrike" baseline="0" dirty="0">
                <a:latin typeface="+mj-lt"/>
              </a:rPr>
              <a:t>Loosely speaking, we define </a:t>
            </a:r>
            <a:r>
              <a:rPr lang="en-US" sz="1800" b="0" i="1" u="none" strike="noStrike" baseline="0" dirty="0">
                <a:latin typeface="+mj-lt"/>
              </a:rPr>
              <a:t>discrete </a:t>
            </a:r>
            <a:r>
              <a:rPr lang="en-US" sz="1800" b="0" i="0" u="none" strike="noStrike" baseline="0" dirty="0">
                <a:latin typeface="+mj-lt"/>
              </a:rPr>
              <a:t>and </a:t>
            </a:r>
            <a:r>
              <a:rPr lang="en-US" sz="1800" b="0" i="1" u="none" strike="noStrike" baseline="0" dirty="0">
                <a:latin typeface="+mj-lt"/>
              </a:rPr>
              <a:t>continuous </a:t>
            </a:r>
            <a:r>
              <a:rPr lang="en-US" sz="1800" b="0" i="0" u="none" strike="noStrike" baseline="0" dirty="0">
                <a:latin typeface="+mj-lt"/>
              </a:rPr>
              <a:t>simulation models analogously to the way discrete and continuous systems were defined above. </a:t>
            </a:r>
          </a:p>
          <a:p>
            <a:pPr algn="just"/>
            <a:endParaRPr lang="en-US" sz="1800" b="0" i="0" u="none" strike="noStrike" baseline="0" dirty="0">
              <a:latin typeface="+mj-lt"/>
            </a:endParaRPr>
          </a:p>
          <a:p>
            <a:pPr algn="just"/>
            <a:r>
              <a:rPr lang="en-US" sz="1800" b="0" i="0" u="none" strike="noStrike" baseline="0" dirty="0">
                <a:latin typeface="+mj-lt"/>
              </a:rPr>
              <a:t>It should be mentioned that a discrete model is not always used to model a discrete system, and vice versa. The decision whether to use a discrete or a continuous model for a particular system depends on the specific objectives of the study. </a:t>
            </a:r>
          </a:p>
          <a:p>
            <a:pPr algn="just"/>
            <a:endParaRPr lang="en-US" dirty="0">
              <a:latin typeface="+mj-lt"/>
            </a:endParaRPr>
          </a:p>
          <a:p>
            <a:pPr algn="just"/>
            <a:r>
              <a:rPr lang="en-US" sz="1800" b="0" i="0" u="none" strike="noStrike" baseline="0" dirty="0">
                <a:latin typeface="+mj-lt"/>
              </a:rPr>
              <a:t>For example, a model of traffic  flow on a freeway would be discrete if the characteristics and movement of individual cars are important. Alternatively, if the cars can be treated “in the aggregate,” the flow of traffic can be described by differential equations in a continuous model. </a:t>
            </a:r>
            <a:r>
              <a:rPr lang="en-US" dirty="0">
                <a:latin typeface="+mj-lt"/>
              </a:rPr>
              <a:t> </a:t>
            </a:r>
          </a:p>
          <a:p>
            <a:endParaRPr lang="en-US" dirty="0"/>
          </a:p>
        </p:txBody>
      </p:sp>
    </p:spTree>
    <p:extLst>
      <p:ext uri="{BB962C8B-B14F-4D97-AF65-F5344CB8AC3E}">
        <p14:creationId xmlns:p14="http://schemas.microsoft.com/office/powerpoint/2010/main" val="39515863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426" y="152769"/>
            <a:ext cx="8911687" cy="1280890"/>
          </a:xfrm>
        </p:spPr>
        <p:txBody>
          <a:bodyPr/>
          <a:lstStyle/>
          <a:p>
            <a:r>
              <a:rPr lang="en-US" dirty="0"/>
              <a:t>Rest of the Chapter is covered from the book.</a:t>
            </a:r>
          </a:p>
        </p:txBody>
      </p:sp>
      <p:sp>
        <p:nvSpPr>
          <p:cNvPr id="3" name="Content Placeholder 2"/>
          <p:cNvSpPr>
            <a:spLocks noGrp="1"/>
          </p:cNvSpPr>
          <p:nvPr>
            <p:ph idx="1"/>
          </p:nvPr>
        </p:nvSpPr>
        <p:spPr>
          <a:xfrm>
            <a:off x="1420966" y="1433659"/>
            <a:ext cx="10482606" cy="5053861"/>
          </a:xfrm>
        </p:spPr>
        <p:txBody>
          <a:bodyPr/>
          <a:lstStyle/>
          <a:p>
            <a:r>
              <a:rPr lang="en-US" dirty="0"/>
              <a:t>1.3 : Discrete Event Simulation</a:t>
            </a:r>
          </a:p>
          <a:p>
            <a:r>
              <a:rPr lang="en-US" dirty="0"/>
              <a:t>1.3.1: Time-Advance Mechanisms</a:t>
            </a:r>
          </a:p>
          <a:p>
            <a:r>
              <a:rPr lang="en-US" dirty="0"/>
              <a:t>Example 1.2: Next-event time-advance approach</a:t>
            </a:r>
          </a:p>
          <a:p>
            <a:r>
              <a:rPr lang="en-US" dirty="0"/>
              <a:t>1.3.2: Components and Organization of a discrete-event Simulation Model </a:t>
            </a:r>
          </a:p>
          <a:p>
            <a:r>
              <a:rPr lang="en-US" dirty="0"/>
              <a:t>1.4: Simulation of a Single-Server Queueing System</a:t>
            </a:r>
          </a:p>
          <a:p>
            <a:r>
              <a:rPr lang="en-US" dirty="0"/>
              <a:t>1.4.1: Problem Statement</a:t>
            </a:r>
          </a:p>
          <a:p>
            <a:r>
              <a:rPr lang="en-US" dirty="0"/>
              <a:t>1.4.2: Intuitive Explanation</a:t>
            </a:r>
          </a:p>
          <a:p>
            <a:r>
              <a:rPr lang="en-US" dirty="0"/>
              <a:t>1.4.3: Program Organization and Logic</a:t>
            </a:r>
          </a:p>
          <a:p>
            <a:r>
              <a:rPr lang="en-US" dirty="0"/>
              <a:t>1.4.5: C Program</a:t>
            </a:r>
          </a:p>
          <a:p>
            <a:r>
              <a:rPr lang="en-US" dirty="0"/>
              <a:t>1.4.6: Simulation Output and Discussion</a:t>
            </a:r>
          </a:p>
          <a:p>
            <a:r>
              <a:rPr lang="en-US" dirty="0"/>
              <a:t>1.4.7: Alternative Stopping Rules</a:t>
            </a:r>
          </a:p>
          <a:p>
            <a:r>
              <a:rPr lang="en-US" dirty="0"/>
              <a:t>1.4.8: Determining the Events and Variables </a:t>
            </a:r>
          </a:p>
          <a:p>
            <a:endParaRPr lang="en-US" dirty="0"/>
          </a:p>
          <a:p>
            <a:endParaRPr lang="en-US" dirty="0"/>
          </a:p>
        </p:txBody>
      </p:sp>
    </p:spTree>
    <p:extLst>
      <p:ext uri="{BB962C8B-B14F-4D97-AF65-F5344CB8AC3E}">
        <p14:creationId xmlns:p14="http://schemas.microsoft.com/office/powerpoint/2010/main" val="1236966019"/>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640</TotalTime>
  <Words>2687</Words>
  <Application>Microsoft Office PowerPoint</Application>
  <PresentationFormat>Widescreen</PresentationFormat>
  <Paragraphs>142</Paragraphs>
  <Slides>19</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Arial</vt:lpstr>
      <vt:lpstr>Cambria Math</vt:lpstr>
      <vt:lpstr>Century Gothic</vt:lpstr>
      <vt:lpstr>CenturyOldStyleStd-Bold</vt:lpstr>
      <vt:lpstr>TimesLTStd-Bold</vt:lpstr>
      <vt:lpstr>TimesLTStd-Italic</vt:lpstr>
      <vt:lpstr>TimesLTStd-Roman</vt:lpstr>
      <vt:lpstr>Wingdings</vt:lpstr>
      <vt:lpstr>Wingdings 3</vt:lpstr>
      <vt:lpstr>Wisp</vt:lpstr>
      <vt:lpstr>Basic Simulation Modeling</vt:lpstr>
      <vt:lpstr>The Nature of Simulation</vt:lpstr>
      <vt:lpstr>The Nature of Simulation</vt:lpstr>
      <vt:lpstr>The Nature of Simulation</vt:lpstr>
      <vt:lpstr>The Nature of Simulation</vt:lpstr>
      <vt:lpstr>Systems, Models, and Simulation </vt:lpstr>
      <vt:lpstr>Systems, Models, and Simulation </vt:lpstr>
      <vt:lpstr>Systems, Models, and Simulation </vt:lpstr>
      <vt:lpstr>Systems, Models, and Simulation </vt:lpstr>
      <vt:lpstr>Systems, Models, and Simulation </vt:lpstr>
      <vt:lpstr>Systems, Models, and Simulation </vt:lpstr>
      <vt:lpstr>Systems, Models, and Simulation </vt:lpstr>
      <vt:lpstr>Systems, Models, and Simulation </vt:lpstr>
      <vt:lpstr>Systems, Models, and Simulation </vt:lpstr>
      <vt:lpstr>Systems, Models, and Simulation </vt:lpstr>
      <vt:lpstr>Systems, Models, and Simulation </vt:lpstr>
      <vt:lpstr>Systems, Models, and Simulation </vt:lpstr>
      <vt:lpstr>Systems, Models, and Simulation </vt:lpstr>
      <vt:lpstr>Rest of the Chapter is covered from the book.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Random Variable</dc:title>
  <dc:creator>Md.Abdul Masud</dc:creator>
  <cp:lastModifiedBy>Jannatul Mim</cp:lastModifiedBy>
  <cp:revision>29</cp:revision>
  <dcterms:created xsi:type="dcterms:W3CDTF">2021-08-21T04:45:26Z</dcterms:created>
  <dcterms:modified xsi:type="dcterms:W3CDTF">2026-02-06T06:55:25Z</dcterms:modified>
</cp:coreProperties>
</file>